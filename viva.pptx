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27"/>
  </p:notesMasterIdLst>
  <p:sldIdLst>
    <p:sldId id="256" r:id="rId2"/>
    <p:sldId id="258" r:id="rId3"/>
    <p:sldId id="297" r:id="rId4"/>
    <p:sldId id="261" r:id="rId5"/>
    <p:sldId id="299" r:id="rId6"/>
    <p:sldId id="300" r:id="rId7"/>
    <p:sldId id="301" r:id="rId8"/>
    <p:sldId id="257" r:id="rId9"/>
    <p:sldId id="302" r:id="rId10"/>
    <p:sldId id="319" r:id="rId11"/>
    <p:sldId id="303" r:id="rId12"/>
    <p:sldId id="263" r:id="rId13"/>
    <p:sldId id="304" r:id="rId14"/>
    <p:sldId id="306" r:id="rId15"/>
    <p:sldId id="308" r:id="rId16"/>
    <p:sldId id="307" r:id="rId17"/>
    <p:sldId id="309" r:id="rId18"/>
    <p:sldId id="310" r:id="rId19"/>
    <p:sldId id="265" r:id="rId20"/>
    <p:sldId id="312" r:id="rId21"/>
    <p:sldId id="313" r:id="rId22"/>
    <p:sldId id="311" r:id="rId23"/>
    <p:sldId id="317" r:id="rId24"/>
    <p:sldId id="318" r:id="rId25"/>
    <p:sldId id="314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07EE39-42F6-4224-913A-FE5B60889325}">
  <a:tblStyle styleId="{A407EE39-42F6-4224-913A-FE5B6088932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63F5789-61F1-4460-8BB7-7D2F9F56B81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B208E96-A423-442F-B9BC-8177B98686DB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2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MLS\Desktop\char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Annual Growth by Startup Size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Sheet2!$B$95</c:f>
              <c:strCache>
                <c:ptCount val="1"/>
                <c:pt idx="0">
                  <c:v>Mean Annual Growth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BA3-4758-A8BB-488F620BE924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BA3-4758-A8BB-488F620BE924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BA3-4758-A8BB-488F620BE9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Sheet2!$A$96:$A$98</c:f>
              <c:strCache>
                <c:ptCount val="3"/>
                <c:pt idx="0">
                  <c:v>Small</c:v>
                </c:pt>
                <c:pt idx="1">
                  <c:v>Medium</c:v>
                </c:pt>
                <c:pt idx="2">
                  <c:v>Large</c:v>
                </c:pt>
              </c:strCache>
            </c:strRef>
          </c:cat>
          <c:val>
            <c:numRef>
              <c:f>Sheet2!$B$96:$B$98</c:f>
              <c:numCache>
                <c:formatCode>General</c:formatCode>
                <c:ptCount val="3"/>
                <c:pt idx="0">
                  <c:v>9.3000000000000007</c:v>
                </c:pt>
                <c:pt idx="1">
                  <c:v>17.36</c:v>
                </c:pt>
                <c:pt idx="2">
                  <c:v>58.46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BA3-4758-A8BB-488F620BE9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11438639"/>
        <c:axId val="1211441039"/>
      </c:barChart>
      <c:catAx>
        <c:axId val="121143863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Startup Size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1441039"/>
        <c:crosses val="autoZero"/>
        <c:auto val="1"/>
        <c:lblAlgn val="ctr"/>
        <c:lblOffset val="100"/>
        <c:noMultiLvlLbl val="0"/>
      </c:catAx>
      <c:valAx>
        <c:axId val="12114410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Average Annual Growth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14386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4C0570-03ED-4265-A55C-851BF05AC57F}" type="doc">
      <dgm:prSet loTypeId="urn:microsoft.com/office/officeart/2005/8/layout/radial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E0696D-DAB3-4CB3-A8BB-AD4A24F14E0F}">
      <dgm:prSet phldrT="[Text]" phldr="0" custT="1"/>
      <dgm:spPr/>
      <dgm:t>
        <a:bodyPr/>
        <a:lstStyle/>
        <a:p>
          <a:r>
            <a:rPr lang="en-US" sz="2400" b="1" dirty="0"/>
            <a:t>Variables</a:t>
          </a:r>
        </a:p>
      </dgm:t>
    </dgm:pt>
    <dgm:pt modelId="{50B8B39E-1D87-43E6-A382-8B1371AB1A18}" type="parTrans" cxnId="{C268188A-748C-4A6F-A13F-3A2844DA88D3}">
      <dgm:prSet/>
      <dgm:spPr/>
      <dgm:t>
        <a:bodyPr/>
        <a:lstStyle/>
        <a:p>
          <a:endParaRPr lang="en-US" sz="1000"/>
        </a:p>
      </dgm:t>
    </dgm:pt>
    <dgm:pt modelId="{1D745739-DC76-400C-8744-FE0E3314BD02}" type="sibTrans" cxnId="{C268188A-748C-4A6F-A13F-3A2844DA88D3}">
      <dgm:prSet/>
      <dgm:spPr/>
      <dgm:t>
        <a:bodyPr/>
        <a:lstStyle/>
        <a:p>
          <a:endParaRPr lang="en-US" sz="1000"/>
        </a:p>
      </dgm:t>
    </dgm:pt>
    <dgm:pt modelId="{1CC36434-AAAD-4A44-BE99-CB2DB7CB9CA5}">
      <dgm:prSet phldrT="[Text]" phldr="0" custT="1"/>
      <dgm:spPr/>
      <dgm:t>
        <a:bodyPr/>
        <a:lstStyle/>
        <a:p>
          <a:r>
            <a:rPr lang="en-US" sz="1300" dirty="0"/>
            <a:t>Size</a:t>
          </a:r>
        </a:p>
      </dgm:t>
    </dgm:pt>
    <dgm:pt modelId="{458F42FA-C760-4D9A-8833-8D029192F8D8}" type="parTrans" cxnId="{5433B79B-D564-44D3-88D0-26773B8599FC}">
      <dgm:prSet/>
      <dgm:spPr/>
      <dgm:t>
        <a:bodyPr/>
        <a:lstStyle/>
        <a:p>
          <a:endParaRPr lang="en-US" sz="1000"/>
        </a:p>
      </dgm:t>
    </dgm:pt>
    <dgm:pt modelId="{D40B309E-6510-44D1-8769-1FD99FB70E29}" type="sibTrans" cxnId="{5433B79B-D564-44D3-88D0-26773B8599FC}">
      <dgm:prSet/>
      <dgm:spPr/>
      <dgm:t>
        <a:bodyPr/>
        <a:lstStyle/>
        <a:p>
          <a:endParaRPr lang="en-US" sz="1000"/>
        </a:p>
      </dgm:t>
    </dgm:pt>
    <dgm:pt modelId="{6ED5C6A3-2A98-424A-9E44-6591F38B110C}">
      <dgm:prSet phldrT="[Text]" phldr="0" custT="1"/>
      <dgm:spPr/>
      <dgm:t>
        <a:bodyPr/>
        <a:lstStyle/>
        <a:p>
          <a:r>
            <a:rPr lang="en-US" sz="1300" dirty="0"/>
            <a:t>Revenue</a:t>
          </a:r>
        </a:p>
      </dgm:t>
    </dgm:pt>
    <dgm:pt modelId="{CE746F38-07DF-4115-8ECC-4FCC5C35168C}" type="parTrans" cxnId="{F8A7DF37-311E-4014-8CFB-FE46C6E3560C}">
      <dgm:prSet/>
      <dgm:spPr/>
      <dgm:t>
        <a:bodyPr/>
        <a:lstStyle/>
        <a:p>
          <a:endParaRPr lang="en-US" sz="1000"/>
        </a:p>
      </dgm:t>
    </dgm:pt>
    <dgm:pt modelId="{31838BD0-2CB9-458C-9652-B4F1CA1ECDFF}" type="sibTrans" cxnId="{F8A7DF37-311E-4014-8CFB-FE46C6E3560C}">
      <dgm:prSet/>
      <dgm:spPr/>
      <dgm:t>
        <a:bodyPr/>
        <a:lstStyle/>
        <a:p>
          <a:endParaRPr lang="en-US" sz="1000"/>
        </a:p>
      </dgm:t>
    </dgm:pt>
    <dgm:pt modelId="{A6FAEE3F-BA65-456B-A40A-0E2DEEB2220D}">
      <dgm:prSet phldrT="[Text]" phldr="0" custT="1"/>
      <dgm:spPr/>
      <dgm:t>
        <a:bodyPr/>
        <a:lstStyle/>
        <a:p>
          <a:pPr>
            <a:buNone/>
          </a:pPr>
          <a:r>
            <a:rPr lang="en-US" sz="1300" b="0" i="0" dirty="0"/>
            <a:t>Startup Status</a:t>
          </a:r>
          <a:endParaRPr lang="en-US" sz="1300" dirty="0"/>
        </a:p>
      </dgm:t>
    </dgm:pt>
    <dgm:pt modelId="{6A369F64-1E50-4755-9F88-73C029DD9B84}" type="parTrans" cxnId="{826553AF-2355-4A03-BD3A-5E1A53897106}">
      <dgm:prSet/>
      <dgm:spPr/>
      <dgm:t>
        <a:bodyPr/>
        <a:lstStyle/>
        <a:p>
          <a:endParaRPr lang="en-US" sz="1000"/>
        </a:p>
      </dgm:t>
    </dgm:pt>
    <dgm:pt modelId="{E9AA80E7-E300-42EF-B6E8-5DE84CDD4184}" type="sibTrans" cxnId="{826553AF-2355-4A03-BD3A-5E1A53897106}">
      <dgm:prSet/>
      <dgm:spPr/>
      <dgm:t>
        <a:bodyPr/>
        <a:lstStyle/>
        <a:p>
          <a:endParaRPr lang="en-US" sz="1000"/>
        </a:p>
      </dgm:t>
    </dgm:pt>
    <dgm:pt modelId="{6E8BD134-07CF-462B-8CC4-2927689DF5B3}">
      <dgm:prSet custT="1"/>
      <dgm:spPr/>
      <dgm:t>
        <a:bodyPr/>
        <a:lstStyle/>
        <a:p>
          <a:r>
            <a:rPr lang="en-US" sz="1300" dirty="0"/>
            <a:t>Industry</a:t>
          </a:r>
        </a:p>
      </dgm:t>
    </dgm:pt>
    <dgm:pt modelId="{710BF0E2-A09D-41D9-9ECA-38C47F0CE3C3}" type="parTrans" cxnId="{5A484D6B-947D-448E-B366-804F4BB99DD9}">
      <dgm:prSet/>
      <dgm:spPr/>
      <dgm:t>
        <a:bodyPr/>
        <a:lstStyle/>
        <a:p>
          <a:endParaRPr lang="en-US" sz="1000"/>
        </a:p>
      </dgm:t>
    </dgm:pt>
    <dgm:pt modelId="{F6E9FA07-F4F8-4D4D-A482-6214F7DCB675}" type="sibTrans" cxnId="{5A484D6B-947D-448E-B366-804F4BB99DD9}">
      <dgm:prSet/>
      <dgm:spPr/>
      <dgm:t>
        <a:bodyPr/>
        <a:lstStyle/>
        <a:p>
          <a:endParaRPr lang="en-US" sz="1000"/>
        </a:p>
      </dgm:t>
    </dgm:pt>
    <dgm:pt modelId="{B76B3839-9003-42A9-8068-5779BE6B0C5A}">
      <dgm:prSet custT="1"/>
      <dgm:spPr/>
      <dgm:t>
        <a:bodyPr/>
        <a:lstStyle/>
        <a:p>
          <a:r>
            <a:rPr lang="en-US" sz="1300" dirty="0"/>
            <a:t>Total Funding </a:t>
          </a:r>
        </a:p>
      </dgm:t>
    </dgm:pt>
    <dgm:pt modelId="{D2124FF1-6C9F-453C-9686-80379D3F4D42}" type="parTrans" cxnId="{B6760EB4-79DB-43CB-BA1F-A8407B4FC372}">
      <dgm:prSet/>
      <dgm:spPr/>
      <dgm:t>
        <a:bodyPr/>
        <a:lstStyle/>
        <a:p>
          <a:endParaRPr lang="en-US" sz="1000"/>
        </a:p>
      </dgm:t>
    </dgm:pt>
    <dgm:pt modelId="{E4EEFC8E-C04D-4860-8C84-9AF532981ED8}" type="sibTrans" cxnId="{B6760EB4-79DB-43CB-BA1F-A8407B4FC372}">
      <dgm:prSet/>
      <dgm:spPr/>
      <dgm:t>
        <a:bodyPr/>
        <a:lstStyle/>
        <a:p>
          <a:endParaRPr lang="en-US" sz="1000"/>
        </a:p>
      </dgm:t>
    </dgm:pt>
    <dgm:pt modelId="{A9C7F9C9-02E7-44F7-95B8-569257408210}">
      <dgm:prSet phldrT="[Text]" phldr="0"/>
      <dgm:spPr/>
      <dgm:t>
        <a:bodyPr/>
        <a:lstStyle/>
        <a:p>
          <a:r>
            <a:rPr lang="en-US" dirty="0"/>
            <a:t>Annual Growth</a:t>
          </a:r>
        </a:p>
      </dgm:t>
    </dgm:pt>
    <dgm:pt modelId="{48AF1532-CD61-43C3-8CBA-58CB046BCB20}" type="parTrans" cxnId="{118FA262-CCE5-41BA-94A0-35C6785CA2A8}">
      <dgm:prSet/>
      <dgm:spPr/>
      <dgm:t>
        <a:bodyPr/>
        <a:lstStyle/>
        <a:p>
          <a:endParaRPr lang="en-US"/>
        </a:p>
      </dgm:t>
    </dgm:pt>
    <dgm:pt modelId="{96EE442B-294A-4BAA-97DD-C9124C12DD13}" type="sibTrans" cxnId="{118FA262-CCE5-41BA-94A0-35C6785CA2A8}">
      <dgm:prSet/>
      <dgm:spPr/>
      <dgm:t>
        <a:bodyPr/>
        <a:lstStyle/>
        <a:p>
          <a:endParaRPr lang="en-US"/>
        </a:p>
      </dgm:t>
    </dgm:pt>
    <dgm:pt modelId="{927F170E-747D-43B7-A1C5-6C3A91B5608E}">
      <dgm:prSet phldrT="[Text]" phldr="0"/>
      <dgm:spPr/>
      <dgm:t>
        <a:bodyPr/>
        <a:lstStyle/>
        <a:p>
          <a:r>
            <a:rPr lang="en-US" dirty="0"/>
            <a:t>Employee Count</a:t>
          </a:r>
        </a:p>
      </dgm:t>
    </dgm:pt>
    <dgm:pt modelId="{0D1EE8B7-E685-413C-B664-0F1D7400CC4B}" type="parTrans" cxnId="{7A15035F-6A1B-41CC-A76C-94F5FFFA2D60}">
      <dgm:prSet/>
      <dgm:spPr/>
      <dgm:t>
        <a:bodyPr/>
        <a:lstStyle/>
        <a:p>
          <a:endParaRPr lang="en-US"/>
        </a:p>
      </dgm:t>
    </dgm:pt>
    <dgm:pt modelId="{9C9B55E4-226C-48F9-B09C-27D482CC915D}" type="sibTrans" cxnId="{7A15035F-6A1B-41CC-A76C-94F5FFFA2D60}">
      <dgm:prSet/>
      <dgm:spPr/>
      <dgm:t>
        <a:bodyPr/>
        <a:lstStyle/>
        <a:p>
          <a:endParaRPr lang="en-US"/>
        </a:p>
      </dgm:t>
    </dgm:pt>
    <dgm:pt modelId="{33F81690-90EF-4DE3-AD76-79539BEA3D6C}">
      <dgm:prSet phldrT="[Text]" phldr="0"/>
      <dgm:spPr/>
      <dgm:t>
        <a:bodyPr/>
        <a:lstStyle/>
        <a:p>
          <a:r>
            <a:rPr lang="en-US" dirty="0"/>
            <a:t>Funding Rounds</a:t>
          </a:r>
        </a:p>
      </dgm:t>
    </dgm:pt>
    <dgm:pt modelId="{736084B2-B4DC-433E-9FE0-5FD74D3C0448}" type="parTrans" cxnId="{75A5324E-D931-4AF9-BC9E-FA9A570753C6}">
      <dgm:prSet/>
      <dgm:spPr/>
      <dgm:t>
        <a:bodyPr/>
        <a:lstStyle/>
        <a:p>
          <a:endParaRPr lang="en-US"/>
        </a:p>
      </dgm:t>
    </dgm:pt>
    <dgm:pt modelId="{9F019BCF-A562-4E4F-BAE8-02C1B879F1CB}" type="sibTrans" cxnId="{75A5324E-D931-4AF9-BC9E-FA9A570753C6}">
      <dgm:prSet/>
      <dgm:spPr/>
      <dgm:t>
        <a:bodyPr/>
        <a:lstStyle/>
        <a:p>
          <a:endParaRPr lang="en-US"/>
        </a:p>
      </dgm:t>
    </dgm:pt>
    <dgm:pt modelId="{C0249F7B-31A5-46C3-BEC8-A6592032D966}">
      <dgm:prSet phldrT="[Text]" phldr="0"/>
      <dgm:spPr/>
      <dgm:t>
        <a:bodyPr/>
        <a:lstStyle/>
        <a:p>
          <a:r>
            <a:rPr lang="en-US" dirty="0"/>
            <a:t>City</a:t>
          </a:r>
        </a:p>
      </dgm:t>
    </dgm:pt>
    <dgm:pt modelId="{A862A856-1BB4-4054-8A36-DF35A28BD0FF}" type="parTrans" cxnId="{812FB3E7-B23C-4600-A02D-C7ABC5B7944F}">
      <dgm:prSet/>
      <dgm:spPr/>
      <dgm:t>
        <a:bodyPr/>
        <a:lstStyle/>
        <a:p>
          <a:endParaRPr lang="en-US"/>
        </a:p>
      </dgm:t>
    </dgm:pt>
    <dgm:pt modelId="{311051F7-A758-4243-943C-17AF1033ECF9}" type="sibTrans" cxnId="{812FB3E7-B23C-4600-A02D-C7ABC5B7944F}">
      <dgm:prSet/>
      <dgm:spPr/>
      <dgm:t>
        <a:bodyPr/>
        <a:lstStyle/>
        <a:p>
          <a:endParaRPr lang="en-US"/>
        </a:p>
      </dgm:t>
    </dgm:pt>
    <dgm:pt modelId="{3D17502A-C004-452C-BDBE-DEF6D176A7D8}" type="pres">
      <dgm:prSet presAssocID="{974C0570-03ED-4265-A55C-851BF05AC57F}" presName="composite" presStyleCnt="0">
        <dgm:presLayoutVars>
          <dgm:chMax val="1"/>
          <dgm:dir/>
          <dgm:resizeHandles val="exact"/>
        </dgm:presLayoutVars>
      </dgm:prSet>
      <dgm:spPr/>
    </dgm:pt>
    <dgm:pt modelId="{A950FD14-5D40-4B25-AA10-C0993021B094}" type="pres">
      <dgm:prSet presAssocID="{974C0570-03ED-4265-A55C-851BF05AC57F}" presName="radial" presStyleCnt="0">
        <dgm:presLayoutVars>
          <dgm:animLvl val="ctr"/>
        </dgm:presLayoutVars>
      </dgm:prSet>
      <dgm:spPr/>
    </dgm:pt>
    <dgm:pt modelId="{EC803783-257C-4BE4-B950-2F58F425A93C}" type="pres">
      <dgm:prSet presAssocID="{ABE0696D-DAB3-4CB3-A8BB-AD4A24F14E0F}" presName="centerShape" presStyleLbl="vennNode1" presStyleIdx="0" presStyleCnt="10"/>
      <dgm:spPr/>
    </dgm:pt>
    <dgm:pt modelId="{63744798-ACDC-4335-A395-A93B38A9B883}" type="pres">
      <dgm:prSet presAssocID="{1CC36434-AAAD-4A44-BE99-CB2DB7CB9CA5}" presName="node" presStyleLbl="vennNode1" presStyleIdx="1" presStyleCnt="10">
        <dgm:presLayoutVars>
          <dgm:bulletEnabled val="1"/>
        </dgm:presLayoutVars>
      </dgm:prSet>
      <dgm:spPr/>
    </dgm:pt>
    <dgm:pt modelId="{E52EF2C0-BAB1-4249-895D-53719223BF26}" type="pres">
      <dgm:prSet presAssocID="{6E8BD134-07CF-462B-8CC4-2927689DF5B3}" presName="node" presStyleLbl="vennNode1" presStyleIdx="2" presStyleCnt="10">
        <dgm:presLayoutVars>
          <dgm:bulletEnabled val="1"/>
        </dgm:presLayoutVars>
      </dgm:prSet>
      <dgm:spPr/>
    </dgm:pt>
    <dgm:pt modelId="{A6A2E5AA-D0DB-4224-B47C-A0462C014D32}" type="pres">
      <dgm:prSet presAssocID="{C0249F7B-31A5-46C3-BEC8-A6592032D966}" presName="node" presStyleLbl="vennNode1" presStyleIdx="3" presStyleCnt="10">
        <dgm:presLayoutVars>
          <dgm:bulletEnabled val="1"/>
        </dgm:presLayoutVars>
      </dgm:prSet>
      <dgm:spPr/>
    </dgm:pt>
    <dgm:pt modelId="{E70AAAE5-ACB3-4460-9692-54C4855F0C37}" type="pres">
      <dgm:prSet presAssocID="{A9C7F9C9-02E7-44F7-95B8-569257408210}" presName="node" presStyleLbl="vennNode1" presStyleIdx="4" presStyleCnt="10">
        <dgm:presLayoutVars>
          <dgm:bulletEnabled val="1"/>
        </dgm:presLayoutVars>
      </dgm:prSet>
      <dgm:spPr/>
    </dgm:pt>
    <dgm:pt modelId="{BD072B6F-3C1B-4CB1-91BC-8EE78BC739AB}" type="pres">
      <dgm:prSet presAssocID="{927F170E-747D-43B7-A1C5-6C3A91B5608E}" presName="node" presStyleLbl="vennNode1" presStyleIdx="5" presStyleCnt="10">
        <dgm:presLayoutVars>
          <dgm:bulletEnabled val="1"/>
        </dgm:presLayoutVars>
      </dgm:prSet>
      <dgm:spPr/>
    </dgm:pt>
    <dgm:pt modelId="{DD9602C7-0776-46EA-824A-DD182D5C4E42}" type="pres">
      <dgm:prSet presAssocID="{33F81690-90EF-4DE3-AD76-79539BEA3D6C}" presName="node" presStyleLbl="vennNode1" presStyleIdx="6" presStyleCnt="10">
        <dgm:presLayoutVars>
          <dgm:bulletEnabled val="1"/>
        </dgm:presLayoutVars>
      </dgm:prSet>
      <dgm:spPr/>
    </dgm:pt>
    <dgm:pt modelId="{1469BC4F-7166-4226-BEFA-16B2DA33895E}" type="pres">
      <dgm:prSet presAssocID="{B76B3839-9003-42A9-8068-5779BE6B0C5A}" presName="node" presStyleLbl="vennNode1" presStyleIdx="7" presStyleCnt="10">
        <dgm:presLayoutVars>
          <dgm:bulletEnabled val="1"/>
        </dgm:presLayoutVars>
      </dgm:prSet>
      <dgm:spPr/>
    </dgm:pt>
    <dgm:pt modelId="{4DA859C8-3AB9-487A-A6A0-7C58A8475C26}" type="pres">
      <dgm:prSet presAssocID="{6ED5C6A3-2A98-424A-9E44-6591F38B110C}" presName="node" presStyleLbl="vennNode1" presStyleIdx="8" presStyleCnt="10">
        <dgm:presLayoutVars>
          <dgm:bulletEnabled val="1"/>
        </dgm:presLayoutVars>
      </dgm:prSet>
      <dgm:spPr/>
    </dgm:pt>
    <dgm:pt modelId="{746744B8-A3BB-4527-80D0-9C740F1C44E5}" type="pres">
      <dgm:prSet presAssocID="{A6FAEE3F-BA65-456B-A40A-0E2DEEB2220D}" presName="node" presStyleLbl="vennNode1" presStyleIdx="9" presStyleCnt="10">
        <dgm:presLayoutVars>
          <dgm:bulletEnabled val="1"/>
        </dgm:presLayoutVars>
      </dgm:prSet>
      <dgm:spPr/>
    </dgm:pt>
  </dgm:ptLst>
  <dgm:cxnLst>
    <dgm:cxn modelId="{BFAC8209-DDB7-4322-A872-DBD3915B4F57}" type="presOf" srcId="{6E8BD134-07CF-462B-8CC4-2927689DF5B3}" destId="{E52EF2C0-BAB1-4249-895D-53719223BF26}" srcOrd="0" destOrd="0" presId="urn:microsoft.com/office/officeart/2005/8/layout/radial3"/>
    <dgm:cxn modelId="{F8A7DF37-311E-4014-8CFB-FE46C6E3560C}" srcId="{ABE0696D-DAB3-4CB3-A8BB-AD4A24F14E0F}" destId="{6ED5C6A3-2A98-424A-9E44-6591F38B110C}" srcOrd="7" destOrd="0" parTransId="{CE746F38-07DF-4115-8ECC-4FCC5C35168C}" sibTransId="{31838BD0-2CB9-458C-9652-B4F1CA1ECDFF}"/>
    <dgm:cxn modelId="{7A15035F-6A1B-41CC-A76C-94F5FFFA2D60}" srcId="{ABE0696D-DAB3-4CB3-A8BB-AD4A24F14E0F}" destId="{927F170E-747D-43B7-A1C5-6C3A91B5608E}" srcOrd="4" destOrd="0" parTransId="{0D1EE8B7-E685-413C-B664-0F1D7400CC4B}" sibTransId="{9C9B55E4-226C-48F9-B09C-27D482CC915D}"/>
    <dgm:cxn modelId="{0449A341-883A-4076-B111-AE589AFFE5BE}" type="presOf" srcId="{ABE0696D-DAB3-4CB3-A8BB-AD4A24F14E0F}" destId="{EC803783-257C-4BE4-B950-2F58F425A93C}" srcOrd="0" destOrd="0" presId="urn:microsoft.com/office/officeart/2005/8/layout/radial3"/>
    <dgm:cxn modelId="{118FA262-CCE5-41BA-94A0-35C6785CA2A8}" srcId="{ABE0696D-DAB3-4CB3-A8BB-AD4A24F14E0F}" destId="{A9C7F9C9-02E7-44F7-95B8-569257408210}" srcOrd="3" destOrd="0" parTransId="{48AF1532-CD61-43C3-8CBA-58CB046BCB20}" sibTransId="{96EE442B-294A-4BAA-97DD-C9124C12DD13}"/>
    <dgm:cxn modelId="{5A484D6B-947D-448E-B366-804F4BB99DD9}" srcId="{ABE0696D-DAB3-4CB3-A8BB-AD4A24F14E0F}" destId="{6E8BD134-07CF-462B-8CC4-2927689DF5B3}" srcOrd="1" destOrd="0" parTransId="{710BF0E2-A09D-41D9-9ECA-38C47F0CE3C3}" sibTransId="{F6E9FA07-F4F8-4D4D-A482-6214F7DCB675}"/>
    <dgm:cxn modelId="{75A5324E-D931-4AF9-BC9E-FA9A570753C6}" srcId="{ABE0696D-DAB3-4CB3-A8BB-AD4A24F14E0F}" destId="{33F81690-90EF-4DE3-AD76-79539BEA3D6C}" srcOrd="5" destOrd="0" parTransId="{736084B2-B4DC-433E-9FE0-5FD74D3C0448}" sibTransId="{9F019BCF-A562-4E4F-BAE8-02C1B879F1CB}"/>
    <dgm:cxn modelId="{8D489652-E949-47DC-A05D-A82BB428C93C}" type="presOf" srcId="{B76B3839-9003-42A9-8068-5779BE6B0C5A}" destId="{1469BC4F-7166-4226-BEFA-16B2DA33895E}" srcOrd="0" destOrd="0" presId="urn:microsoft.com/office/officeart/2005/8/layout/radial3"/>
    <dgm:cxn modelId="{79F0E074-26BA-4E80-87C5-182F088ECF09}" type="presOf" srcId="{6ED5C6A3-2A98-424A-9E44-6591F38B110C}" destId="{4DA859C8-3AB9-487A-A6A0-7C58A8475C26}" srcOrd="0" destOrd="0" presId="urn:microsoft.com/office/officeart/2005/8/layout/radial3"/>
    <dgm:cxn modelId="{F86ACD82-B13F-4B48-A031-F04C88BBFC15}" type="presOf" srcId="{1CC36434-AAAD-4A44-BE99-CB2DB7CB9CA5}" destId="{63744798-ACDC-4335-A395-A93B38A9B883}" srcOrd="0" destOrd="0" presId="urn:microsoft.com/office/officeart/2005/8/layout/radial3"/>
    <dgm:cxn modelId="{C268188A-748C-4A6F-A13F-3A2844DA88D3}" srcId="{974C0570-03ED-4265-A55C-851BF05AC57F}" destId="{ABE0696D-DAB3-4CB3-A8BB-AD4A24F14E0F}" srcOrd="0" destOrd="0" parTransId="{50B8B39E-1D87-43E6-A382-8B1371AB1A18}" sibTransId="{1D745739-DC76-400C-8744-FE0E3314BD02}"/>
    <dgm:cxn modelId="{5433B79B-D564-44D3-88D0-26773B8599FC}" srcId="{ABE0696D-DAB3-4CB3-A8BB-AD4A24F14E0F}" destId="{1CC36434-AAAD-4A44-BE99-CB2DB7CB9CA5}" srcOrd="0" destOrd="0" parTransId="{458F42FA-C760-4D9A-8833-8D029192F8D8}" sibTransId="{D40B309E-6510-44D1-8769-1FD99FB70E29}"/>
    <dgm:cxn modelId="{EA5B6CA7-0F52-49F2-BAAF-9BCEC349A068}" type="presOf" srcId="{927F170E-747D-43B7-A1C5-6C3A91B5608E}" destId="{BD072B6F-3C1B-4CB1-91BC-8EE78BC739AB}" srcOrd="0" destOrd="0" presId="urn:microsoft.com/office/officeart/2005/8/layout/radial3"/>
    <dgm:cxn modelId="{826553AF-2355-4A03-BD3A-5E1A53897106}" srcId="{ABE0696D-DAB3-4CB3-A8BB-AD4A24F14E0F}" destId="{A6FAEE3F-BA65-456B-A40A-0E2DEEB2220D}" srcOrd="8" destOrd="0" parTransId="{6A369F64-1E50-4755-9F88-73C029DD9B84}" sibTransId="{E9AA80E7-E300-42EF-B6E8-5DE84CDD4184}"/>
    <dgm:cxn modelId="{B6760EB4-79DB-43CB-BA1F-A8407B4FC372}" srcId="{ABE0696D-DAB3-4CB3-A8BB-AD4A24F14E0F}" destId="{B76B3839-9003-42A9-8068-5779BE6B0C5A}" srcOrd="6" destOrd="0" parTransId="{D2124FF1-6C9F-453C-9686-80379D3F4D42}" sibTransId="{E4EEFC8E-C04D-4860-8C84-9AF532981ED8}"/>
    <dgm:cxn modelId="{8E1DD2C2-CDAB-483E-A1E5-EFBFF34C8A7B}" type="presOf" srcId="{A6FAEE3F-BA65-456B-A40A-0E2DEEB2220D}" destId="{746744B8-A3BB-4527-80D0-9C740F1C44E5}" srcOrd="0" destOrd="0" presId="urn:microsoft.com/office/officeart/2005/8/layout/radial3"/>
    <dgm:cxn modelId="{21E085C7-A5EB-470D-BF45-EC214A8748B9}" type="presOf" srcId="{974C0570-03ED-4265-A55C-851BF05AC57F}" destId="{3D17502A-C004-452C-BDBE-DEF6D176A7D8}" srcOrd="0" destOrd="0" presId="urn:microsoft.com/office/officeart/2005/8/layout/radial3"/>
    <dgm:cxn modelId="{01EBCFCF-038B-488D-83A5-8583017DFE16}" type="presOf" srcId="{A9C7F9C9-02E7-44F7-95B8-569257408210}" destId="{E70AAAE5-ACB3-4460-9692-54C4855F0C37}" srcOrd="0" destOrd="0" presId="urn:microsoft.com/office/officeart/2005/8/layout/radial3"/>
    <dgm:cxn modelId="{E4A078E5-C558-4538-A8E1-B13A04A6CC8B}" type="presOf" srcId="{33F81690-90EF-4DE3-AD76-79539BEA3D6C}" destId="{DD9602C7-0776-46EA-824A-DD182D5C4E42}" srcOrd="0" destOrd="0" presId="urn:microsoft.com/office/officeart/2005/8/layout/radial3"/>
    <dgm:cxn modelId="{812FB3E7-B23C-4600-A02D-C7ABC5B7944F}" srcId="{ABE0696D-DAB3-4CB3-A8BB-AD4A24F14E0F}" destId="{C0249F7B-31A5-46C3-BEC8-A6592032D966}" srcOrd="2" destOrd="0" parTransId="{A862A856-1BB4-4054-8A36-DF35A28BD0FF}" sibTransId="{311051F7-A758-4243-943C-17AF1033ECF9}"/>
    <dgm:cxn modelId="{AA32EDE7-2605-4FCC-B42B-03D81422315C}" type="presOf" srcId="{C0249F7B-31A5-46C3-BEC8-A6592032D966}" destId="{A6A2E5AA-D0DB-4224-B47C-A0462C014D32}" srcOrd="0" destOrd="0" presId="urn:microsoft.com/office/officeart/2005/8/layout/radial3"/>
    <dgm:cxn modelId="{54F78E7B-0341-4380-BDF4-C4D1DC1C476E}" type="presParOf" srcId="{3D17502A-C004-452C-BDBE-DEF6D176A7D8}" destId="{A950FD14-5D40-4B25-AA10-C0993021B094}" srcOrd="0" destOrd="0" presId="urn:microsoft.com/office/officeart/2005/8/layout/radial3"/>
    <dgm:cxn modelId="{B13741D6-7468-45D9-9CD3-C4E2CD3DBB0B}" type="presParOf" srcId="{A950FD14-5D40-4B25-AA10-C0993021B094}" destId="{EC803783-257C-4BE4-B950-2F58F425A93C}" srcOrd="0" destOrd="0" presId="urn:microsoft.com/office/officeart/2005/8/layout/radial3"/>
    <dgm:cxn modelId="{492E9E38-4FC9-4B90-BC2B-05807142364F}" type="presParOf" srcId="{A950FD14-5D40-4B25-AA10-C0993021B094}" destId="{63744798-ACDC-4335-A395-A93B38A9B883}" srcOrd="1" destOrd="0" presId="urn:microsoft.com/office/officeart/2005/8/layout/radial3"/>
    <dgm:cxn modelId="{E61345D7-E29B-41D8-8D01-C3528379216E}" type="presParOf" srcId="{A950FD14-5D40-4B25-AA10-C0993021B094}" destId="{E52EF2C0-BAB1-4249-895D-53719223BF26}" srcOrd="2" destOrd="0" presId="urn:microsoft.com/office/officeart/2005/8/layout/radial3"/>
    <dgm:cxn modelId="{8286D9C9-3076-486B-A1F6-5123FA7BAEB5}" type="presParOf" srcId="{A950FD14-5D40-4B25-AA10-C0993021B094}" destId="{A6A2E5AA-D0DB-4224-B47C-A0462C014D32}" srcOrd="3" destOrd="0" presId="urn:microsoft.com/office/officeart/2005/8/layout/radial3"/>
    <dgm:cxn modelId="{DF608515-4DD1-4880-B775-55B23337CF4B}" type="presParOf" srcId="{A950FD14-5D40-4B25-AA10-C0993021B094}" destId="{E70AAAE5-ACB3-4460-9692-54C4855F0C37}" srcOrd="4" destOrd="0" presId="urn:microsoft.com/office/officeart/2005/8/layout/radial3"/>
    <dgm:cxn modelId="{26EBD6F9-897C-4A00-80B7-2D4A40240FBA}" type="presParOf" srcId="{A950FD14-5D40-4B25-AA10-C0993021B094}" destId="{BD072B6F-3C1B-4CB1-91BC-8EE78BC739AB}" srcOrd="5" destOrd="0" presId="urn:microsoft.com/office/officeart/2005/8/layout/radial3"/>
    <dgm:cxn modelId="{FB290724-6D92-4561-9F37-0BB68CBB87A3}" type="presParOf" srcId="{A950FD14-5D40-4B25-AA10-C0993021B094}" destId="{DD9602C7-0776-46EA-824A-DD182D5C4E42}" srcOrd="6" destOrd="0" presId="urn:microsoft.com/office/officeart/2005/8/layout/radial3"/>
    <dgm:cxn modelId="{232C92AF-30A5-468A-A4A7-13442CCFF8C1}" type="presParOf" srcId="{A950FD14-5D40-4B25-AA10-C0993021B094}" destId="{1469BC4F-7166-4226-BEFA-16B2DA33895E}" srcOrd="7" destOrd="0" presId="urn:microsoft.com/office/officeart/2005/8/layout/radial3"/>
    <dgm:cxn modelId="{16EDEAB6-3FE8-40E1-BF51-AB5EC91216BD}" type="presParOf" srcId="{A950FD14-5D40-4B25-AA10-C0993021B094}" destId="{4DA859C8-3AB9-487A-A6A0-7C58A8475C26}" srcOrd="8" destOrd="0" presId="urn:microsoft.com/office/officeart/2005/8/layout/radial3"/>
    <dgm:cxn modelId="{05E2D991-2BB5-4D31-988E-620745C194A5}" type="presParOf" srcId="{A950FD14-5D40-4B25-AA10-C0993021B094}" destId="{746744B8-A3BB-4527-80D0-9C740F1C44E5}" srcOrd="9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D5B2C9-F9AD-4EA5-822A-E85B55CDC5E6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0B512F-AC92-48DD-A598-E95217B7D6E8}">
      <dgm:prSet phldrT="[Text]" phldr="0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</a:rPr>
            <a:t>Methodology</a:t>
          </a:r>
        </a:p>
      </dgm:t>
    </dgm:pt>
    <dgm:pt modelId="{6DDD2F11-2592-4CC1-BBE9-AA074DFDB45B}" type="parTrans" cxnId="{DCEFA8BA-ECB1-43E1-9154-D4B614CBFE0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8C427E6-45BB-4576-B9D3-118B4B91FA31}" type="sibTrans" cxnId="{DCEFA8BA-ECB1-43E1-9154-D4B614CBFE0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A494E5A-5C0F-4709-9D1D-EF67805BDC9D}">
      <dgm:prSet phldrT="[Text]" custT="1"/>
      <dgm:spPr/>
      <dgm:t>
        <a:bodyPr/>
        <a:lstStyle/>
        <a:p>
          <a:pPr>
            <a:buNone/>
          </a:pPr>
          <a:r>
            <a:rPr lang="en-US" sz="1200" b="1" dirty="0">
              <a:solidFill>
                <a:schemeClr val="tx1"/>
              </a:solidFill>
            </a:rPr>
            <a:t>Integrated Econometric Methods</a:t>
          </a:r>
          <a:endParaRPr lang="en-US" sz="1200" dirty="0">
            <a:solidFill>
              <a:schemeClr val="tx1"/>
            </a:solidFill>
          </a:endParaRPr>
        </a:p>
      </dgm:t>
    </dgm:pt>
    <dgm:pt modelId="{E8AE2748-9013-40C9-A3AB-43798FFC6825}" type="parTrans" cxnId="{35A70046-D815-446C-B4F9-D11A3A898F7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2829ACC-43E7-45C6-AF88-B6603D01CB51}" type="sibTrans" cxnId="{35A70046-D815-446C-B4F9-D11A3A898F7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93B46F9-4220-46EF-B376-33AF09A23BDA}">
      <dgm:prSet phldrT="[Text]" phldr="0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ANOVA</a:t>
          </a:r>
        </a:p>
      </dgm:t>
    </dgm:pt>
    <dgm:pt modelId="{9AD98464-E75A-4D27-8BA4-F6309D1AF4A6}" type="parTrans" cxnId="{C8EA69A7-ED9F-489D-BC8A-7DA6839A8EB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E468756-5DB1-405E-9D1C-EB4022D59408}" type="sibTrans" cxnId="{C8EA69A7-ED9F-489D-BC8A-7DA6839A8EB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E238525-0CFC-44B3-94A3-32FFE3F52A4D}">
      <dgm:prSet phldrT="[Text]" phldr="0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Independent T-Test</a:t>
          </a:r>
        </a:p>
      </dgm:t>
    </dgm:pt>
    <dgm:pt modelId="{77DB4357-F31B-47D5-9136-D7A717467628}" type="parTrans" cxnId="{82FB714B-7154-42B9-81EF-3837CCC40AB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65AEDB4-1F7B-4DE7-8967-9103080300B2}" type="sibTrans" cxnId="{82FB714B-7154-42B9-81EF-3837CCC40AB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33F5765-8693-496C-AABF-E616A66F74D2}">
      <dgm:prSet phldrT="[Text]" custT="1"/>
      <dgm:spPr/>
      <dgm:t>
        <a:bodyPr/>
        <a:lstStyle/>
        <a:p>
          <a:pPr>
            <a:buNone/>
          </a:pPr>
          <a:r>
            <a:rPr lang="en-US" sz="1200" b="1" dirty="0">
              <a:solidFill>
                <a:schemeClr val="tx1"/>
              </a:solidFill>
            </a:rPr>
            <a:t>Multidimensional Statistical Methods</a:t>
          </a:r>
          <a:endParaRPr lang="en-US" sz="1200" dirty="0">
            <a:solidFill>
              <a:schemeClr val="tx1"/>
            </a:solidFill>
          </a:endParaRPr>
        </a:p>
      </dgm:t>
    </dgm:pt>
    <dgm:pt modelId="{F870F174-50B3-462E-AB22-88E3FE7F9685}" type="parTrans" cxnId="{4136AE59-CD20-4AFD-AE2E-1BF36149473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7FEBBF7-6EC4-4F2E-9423-FD50E949FB06}" type="sibTrans" cxnId="{4136AE59-CD20-4AFD-AE2E-1BF36149473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CF69A45-2C76-472C-96B4-282BF7EB607B}">
      <dgm:prSet phldrT="[Text]"/>
      <dgm:spPr/>
      <dgm:t>
        <a:bodyPr/>
        <a:lstStyle/>
        <a:p>
          <a:pPr>
            <a:buNone/>
          </a:pPr>
          <a:r>
            <a:rPr lang="en-US" b="0" i="0" dirty="0">
              <a:solidFill>
                <a:schemeClr val="tx1"/>
              </a:solidFill>
            </a:rPr>
            <a:t>MANOVA</a:t>
          </a:r>
          <a:endParaRPr lang="en-US" dirty="0">
            <a:solidFill>
              <a:schemeClr val="tx1"/>
            </a:solidFill>
          </a:endParaRPr>
        </a:p>
      </dgm:t>
    </dgm:pt>
    <dgm:pt modelId="{22C43601-4CAF-41A2-809A-EFE6AABA652F}" type="parTrans" cxnId="{D08DC340-9C43-48FA-BBF4-8F5A1ACE3CA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4FBD7EA-D637-4EFC-8940-7902BB02CE26}" type="sibTrans" cxnId="{D08DC340-9C43-48FA-BBF4-8F5A1ACE3CA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BE03340-0E49-456A-A3BA-F6011E6E3B7C}">
      <dgm:prSet/>
      <dgm:spPr/>
      <dgm:t>
        <a:bodyPr/>
        <a:lstStyle/>
        <a:p>
          <a:pPr>
            <a:buNone/>
          </a:pPr>
          <a:r>
            <a:rPr lang="en-US" b="0" i="0" dirty="0">
              <a:solidFill>
                <a:schemeClr val="tx1"/>
              </a:solidFill>
            </a:rPr>
            <a:t>Linear Regression</a:t>
          </a:r>
          <a:endParaRPr lang="en-US" dirty="0">
            <a:solidFill>
              <a:schemeClr val="tx1"/>
            </a:solidFill>
          </a:endParaRPr>
        </a:p>
      </dgm:t>
    </dgm:pt>
    <dgm:pt modelId="{409DEDC2-B1AF-4609-A8F8-2DAF078F167E}" type="parTrans" cxnId="{1D7FCF95-558C-44AE-90E1-6F95BE14BF96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6155D2D-39CF-4CC6-AC42-B7A4AABB0B8C}" type="sibTrans" cxnId="{1D7FCF95-558C-44AE-90E1-6F95BE14BF96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A55B475-E9A2-48B1-AF3C-9A02B5D9A466}">
      <dgm:prSet phldrT="[Text]" phldr="0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Cox Regression</a:t>
          </a:r>
        </a:p>
      </dgm:t>
    </dgm:pt>
    <dgm:pt modelId="{E70DB1C0-BAFE-4AC9-876E-C3B311447235}" type="parTrans" cxnId="{56D23EFA-B66F-48F8-AF91-1EC6C0EDADE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9E87B68-8657-4D92-965D-73B16E60A33B}" type="sibTrans" cxnId="{56D23EFA-B66F-48F8-AF91-1EC6C0EDADE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E73B160-C8DF-4A37-95F2-F8B7C2D45250}">
      <dgm:prSet phldrT="[Text]"/>
      <dgm:spPr/>
      <dgm:t>
        <a:bodyPr/>
        <a:lstStyle/>
        <a:p>
          <a:pPr>
            <a:buNone/>
          </a:pPr>
          <a:r>
            <a:rPr lang="en-US" b="0" i="0" dirty="0">
              <a:solidFill>
                <a:schemeClr val="tx1"/>
              </a:solidFill>
            </a:rPr>
            <a:t>Kaplan-Meier</a:t>
          </a:r>
          <a:endParaRPr lang="en-US" dirty="0">
            <a:solidFill>
              <a:schemeClr val="tx1"/>
            </a:solidFill>
          </a:endParaRPr>
        </a:p>
      </dgm:t>
    </dgm:pt>
    <dgm:pt modelId="{2BF71C19-34CD-42D0-BDDB-5313AEB3F3F9}" type="parTrans" cxnId="{7C011AFE-B2BD-4458-B3D9-AFAFBF024AF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3AF54D8-4169-4C26-85BC-DD1B800BE6A1}" type="sibTrans" cxnId="{7C011AFE-B2BD-4458-B3D9-AFAFBF024AF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C41F7FC-55E4-4760-B04B-A536C6F87FC6}">
      <dgm:prSet phldrT="[Text]"/>
      <dgm:spPr/>
      <dgm:t>
        <a:bodyPr/>
        <a:lstStyle/>
        <a:p>
          <a:pPr>
            <a:buNone/>
          </a:pPr>
          <a:r>
            <a:rPr lang="en-US" b="0" i="0" dirty="0">
              <a:solidFill>
                <a:schemeClr val="tx1"/>
              </a:solidFill>
            </a:rPr>
            <a:t>K-Means Cluster</a:t>
          </a:r>
          <a:endParaRPr lang="en-US" dirty="0">
            <a:solidFill>
              <a:schemeClr val="tx1"/>
            </a:solidFill>
          </a:endParaRPr>
        </a:p>
      </dgm:t>
    </dgm:pt>
    <dgm:pt modelId="{5E7C6AB2-DBED-4B97-AEEF-F00D5D65881C}" type="parTrans" cxnId="{74ACC038-9532-44D6-A35B-39D9BC3CC10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87CEFDF-B583-43B5-AEE1-7AF07AD2EDEA}" type="sibTrans" cxnId="{74ACC038-9532-44D6-A35B-39D9BC3CC10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3D71B83-51AF-4EB7-9F48-23CEFB73718E}">
      <dgm:prSet phldrT="[Text]" phldr="0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Easy Fit</a:t>
          </a:r>
        </a:p>
      </dgm:t>
    </dgm:pt>
    <dgm:pt modelId="{2847EDBC-A504-454A-913B-221219927AE4}" type="parTrans" cxnId="{22493662-C516-4E6B-8A8C-23ED44330A2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F850C4B-3FEB-43A0-B0DD-13371F95AA0E}" type="sibTrans" cxnId="{22493662-C516-4E6B-8A8C-23ED44330A2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87877DD-8965-4AE5-99B7-99443CD165A5}" type="pres">
      <dgm:prSet presAssocID="{55D5B2C9-F9AD-4EA5-822A-E85B55CDC5E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C9FB7C6-EA85-4826-99C1-44D36C247A80}" type="pres">
      <dgm:prSet presAssocID="{B40B512F-AC92-48DD-A598-E95217B7D6E8}" presName="root1" presStyleCnt="0"/>
      <dgm:spPr/>
    </dgm:pt>
    <dgm:pt modelId="{3CB72E4E-2959-4561-9DC4-93979A7E5D5D}" type="pres">
      <dgm:prSet presAssocID="{B40B512F-AC92-48DD-A598-E95217B7D6E8}" presName="LevelOneTextNode" presStyleLbl="node0" presStyleIdx="0" presStyleCnt="1" custScaleX="212276" custScaleY="358337" custLinFactX="-86843" custLinFactNeighborX="-100000" custLinFactNeighborY="-67281">
        <dgm:presLayoutVars>
          <dgm:chPref val="3"/>
        </dgm:presLayoutVars>
      </dgm:prSet>
      <dgm:spPr/>
    </dgm:pt>
    <dgm:pt modelId="{2549254A-F7B0-4B54-85CD-00E49F000F73}" type="pres">
      <dgm:prSet presAssocID="{B40B512F-AC92-48DD-A598-E95217B7D6E8}" presName="level2hierChild" presStyleCnt="0"/>
      <dgm:spPr/>
    </dgm:pt>
    <dgm:pt modelId="{A4DC0B7B-5183-45B3-BD85-CF332B391029}" type="pres">
      <dgm:prSet presAssocID="{E8AE2748-9013-40C9-A3AB-43798FFC6825}" presName="conn2-1" presStyleLbl="parChTrans1D2" presStyleIdx="0" presStyleCnt="2"/>
      <dgm:spPr/>
    </dgm:pt>
    <dgm:pt modelId="{9E03A874-7DEC-4685-AAF6-72CE5A431DF0}" type="pres">
      <dgm:prSet presAssocID="{E8AE2748-9013-40C9-A3AB-43798FFC6825}" presName="connTx" presStyleLbl="parChTrans1D2" presStyleIdx="0" presStyleCnt="2"/>
      <dgm:spPr/>
    </dgm:pt>
    <dgm:pt modelId="{6D5A2D39-BC87-46F5-9AE7-9A813080C2F2}" type="pres">
      <dgm:prSet presAssocID="{6A494E5A-5C0F-4709-9D1D-EF67805BDC9D}" presName="root2" presStyleCnt="0"/>
      <dgm:spPr/>
    </dgm:pt>
    <dgm:pt modelId="{447D7ACF-02E7-4688-B4E9-7D7E559CC929}" type="pres">
      <dgm:prSet presAssocID="{6A494E5A-5C0F-4709-9D1D-EF67805BDC9D}" presName="LevelTwoTextNode" presStyleLbl="node2" presStyleIdx="0" presStyleCnt="2" custScaleX="135672" custScaleY="222012" custLinFactNeighborX="-84495" custLinFactNeighborY="-436">
        <dgm:presLayoutVars>
          <dgm:chPref val="3"/>
        </dgm:presLayoutVars>
      </dgm:prSet>
      <dgm:spPr/>
    </dgm:pt>
    <dgm:pt modelId="{3E166913-4C70-4FF8-9D43-212563856BA9}" type="pres">
      <dgm:prSet presAssocID="{6A494E5A-5C0F-4709-9D1D-EF67805BDC9D}" presName="level3hierChild" presStyleCnt="0"/>
      <dgm:spPr/>
    </dgm:pt>
    <dgm:pt modelId="{4806267A-FA0C-4C8C-9FC0-567C281219CC}" type="pres">
      <dgm:prSet presAssocID="{9AD98464-E75A-4D27-8BA4-F6309D1AF4A6}" presName="conn2-1" presStyleLbl="parChTrans1D3" presStyleIdx="0" presStyleCnt="8"/>
      <dgm:spPr/>
    </dgm:pt>
    <dgm:pt modelId="{FA0865EB-5A8B-41C2-BF18-7CAC84CE1465}" type="pres">
      <dgm:prSet presAssocID="{9AD98464-E75A-4D27-8BA4-F6309D1AF4A6}" presName="connTx" presStyleLbl="parChTrans1D3" presStyleIdx="0" presStyleCnt="8"/>
      <dgm:spPr/>
    </dgm:pt>
    <dgm:pt modelId="{72061038-324B-4ABC-AF50-806CEB02FBEA}" type="pres">
      <dgm:prSet presAssocID="{093B46F9-4220-46EF-B376-33AF09A23BDA}" presName="root2" presStyleCnt="0"/>
      <dgm:spPr/>
    </dgm:pt>
    <dgm:pt modelId="{72611116-8376-4581-BF5D-151FF16930D3}" type="pres">
      <dgm:prSet presAssocID="{093B46F9-4220-46EF-B376-33AF09A23BDA}" presName="LevelTwoTextNode" presStyleLbl="node3" presStyleIdx="0" presStyleCnt="8" custLinFactNeighborX="58918" custLinFactNeighborY="3504">
        <dgm:presLayoutVars>
          <dgm:chPref val="3"/>
        </dgm:presLayoutVars>
      </dgm:prSet>
      <dgm:spPr/>
    </dgm:pt>
    <dgm:pt modelId="{CD0B7F58-333F-401E-B913-AD09371C82C9}" type="pres">
      <dgm:prSet presAssocID="{093B46F9-4220-46EF-B376-33AF09A23BDA}" presName="level3hierChild" presStyleCnt="0"/>
      <dgm:spPr/>
    </dgm:pt>
    <dgm:pt modelId="{916F8DFE-C446-4547-A1F1-EE033249316A}" type="pres">
      <dgm:prSet presAssocID="{77DB4357-F31B-47D5-9136-D7A717467628}" presName="conn2-1" presStyleLbl="parChTrans1D3" presStyleIdx="1" presStyleCnt="8"/>
      <dgm:spPr/>
    </dgm:pt>
    <dgm:pt modelId="{F37BBA3B-F977-446C-AFCD-97626705A0A7}" type="pres">
      <dgm:prSet presAssocID="{77DB4357-F31B-47D5-9136-D7A717467628}" presName="connTx" presStyleLbl="parChTrans1D3" presStyleIdx="1" presStyleCnt="8"/>
      <dgm:spPr/>
    </dgm:pt>
    <dgm:pt modelId="{894E4DB0-199C-422C-91A5-D1DB8AFA38A2}" type="pres">
      <dgm:prSet presAssocID="{6E238525-0CFC-44B3-94A3-32FFE3F52A4D}" presName="root2" presStyleCnt="0"/>
      <dgm:spPr/>
    </dgm:pt>
    <dgm:pt modelId="{875BB4CA-3C75-4BF2-883F-5BF6FD5827E2}" type="pres">
      <dgm:prSet presAssocID="{6E238525-0CFC-44B3-94A3-32FFE3F52A4D}" presName="LevelTwoTextNode" presStyleLbl="node3" presStyleIdx="1" presStyleCnt="8" custLinFactNeighborX="58919" custLinFactNeighborY="-5481">
        <dgm:presLayoutVars>
          <dgm:chPref val="3"/>
        </dgm:presLayoutVars>
      </dgm:prSet>
      <dgm:spPr/>
    </dgm:pt>
    <dgm:pt modelId="{14EB0BF7-296A-4ED9-A3C7-54244B3DE1D1}" type="pres">
      <dgm:prSet presAssocID="{6E238525-0CFC-44B3-94A3-32FFE3F52A4D}" presName="level3hierChild" presStyleCnt="0"/>
      <dgm:spPr/>
    </dgm:pt>
    <dgm:pt modelId="{76E30FBB-6023-4EEF-B456-7342FE07615D}" type="pres">
      <dgm:prSet presAssocID="{409DEDC2-B1AF-4609-A8F8-2DAF078F167E}" presName="conn2-1" presStyleLbl="parChTrans1D3" presStyleIdx="2" presStyleCnt="8"/>
      <dgm:spPr/>
    </dgm:pt>
    <dgm:pt modelId="{0ABE0C86-398E-42DA-BC86-98FCB90C604C}" type="pres">
      <dgm:prSet presAssocID="{409DEDC2-B1AF-4609-A8F8-2DAF078F167E}" presName="connTx" presStyleLbl="parChTrans1D3" presStyleIdx="2" presStyleCnt="8"/>
      <dgm:spPr/>
    </dgm:pt>
    <dgm:pt modelId="{81101B97-7DF5-43C0-A2D5-5E93C788D895}" type="pres">
      <dgm:prSet presAssocID="{7BE03340-0E49-456A-A3BA-F6011E6E3B7C}" presName="root2" presStyleCnt="0"/>
      <dgm:spPr/>
    </dgm:pt>
    <dgm:pt modelId="{AE591BB0-A38B-40EE-8683-8AF4425C2C74}" type="pres">
      <dgm:prSet presAssocID="{7BE03340-0E49-456A-A3BA-F6011E6E3B7C}" presName="LevelTwoTextNode" presStyleLbl="node3" presStyleIdx="2" presStyleCnt="8" custLinFactNeighborX="58918" custLinFactNeighborY="-13331">
        <dgm:presLayoutVars>
          <dgm:chPref val="3"/>
        </dgm:presLayoutVars>
      </dgm:prSet>
      <dgm:spPr/>
    </dgm:pt>
    <dgm:pt modelId="{E3E46512-B926-4133-BFCA-F2200E980157}" type="pres">
      <dgm:prSet presAssocID="{7BE03340-0E49-456A-A3BA-F6011E6E3B7C}" presName="level3hierChild" presStyleCnt="0"/>
      <dgm:spPr/>
    </dgm:pt>
    <dgm:pt modelId="{F4547B07-2007-4D70-A612-AF25BF88A039}" type="pres">
      <dgm:prSet presAssocID="{E70DB1C0-BAFE-4AC9-876E-C3B311447235}" presName="conn2-1" presStyleLbl="parChTrans1D3" presStyleIdx="3" presStyleCnt="8"/>
      <dgm:spPr/>
    </dgm:pt>
    <dgm:pt modelId="{C3F12B18-9673-4143-863C-49D4F8DB3A21}" type="pres">
      <dgm:prSet presAssocID="{E70DB1C0-BAFE-4AC9-876E-C3B311447235}" presName="connTx" presStyleLbl="parChTrans1D3" presStyleIdx="3" presStyleCnt="8"/>
      <dgm:spPr/>
    </dgm:pt>
    <dgm:pt modelId="{7BA08F76-9935-41F0-9BCA-EEC4D049CD37}" type="pres">
      <dgm:prSet presAssocID="{FA55B475-E9A2-48B1-AF3C-9A02B5D9A466}" presName="root2" presStyleCnt="0"/>
      <dgm:spPr/>
    </dgm:pt>
    <dgm:pt modelId="{7B1C6AFB-CA2F-413B-82A2-6B0B972AE6B7}" type="pres">
      <dgm:prSet presAssocID="{FA55B475-E9A2-48B1-AF3C-9A02B5D9A466}" presName="LevelTwoTextNode" presStyleLbl="node3" presStyleIdx="3" presStyleCnt="8" custLinFactNeighborX="58919" custLinFactNeighborY="-24204">
        <dgm:presLayoutVars>
          <dgm:chPref val="3"/>
        </dgm:presLayoutVars>
      </dgm:prSet>
      <dgm:spPr/>
    </dgm:pt>
    <dgm:pt modelId="{FA9AF079-6A13-4231-8D8D-A5532A835E7E}" type="pres">
      <dgm:prSet presAssocID="{FA55B475-E9A2-48B1-AF3C-9A02B5D9A466}" presName="level3hierChild" presStyleCnt="0"/>
      <dgm:spPr/>
    </dgm:pt>
    <dgm:pt modelId="{2EB0BB37-5C07-4DB7-B539-7CE2E8AB5580}" type="pres">
      <dgm:prSet presAssocID="{2BF71C19-34CD-42D0-BDDB-5313AEB3F3F9}" presName="conn2-1" presStyleLbl="parChTrans1D3" presStyleIdx="4" presStyleCnt="8"/>
      <dgm:spPr/>
    </dgm:pt>
    <dgm:pt modelId="{0CBCB982-5193-4C5B-B21E-21510ABA8191}" type="pres">
      <dgm:prSet presAssocID="{2BF71C19-34CD-42D0-BDDB-5313AEB3F3F9}" presName="connTx" presStyleLbl="parChTrans1D3" presStyleIdx="4" presStyleCnt="8"/>
      <dgm:spPr/>
    </dgm:pt>
    <dgm:pt modelId="{5F007FA4-48AB-4AA0-886A-766F61FA8BCC}" type="pres">
      <dgm:prSet presAssocID="{6E73B160-C8DF-4A37-95F2-F8B7C2D45250}" presName="root2" presStyleCnt="0"/>
      <dgm:spPr/>
    </dgm:pt>
    <dgm:pt modelId="{9E329899-E579-4046-A07D-CF40F1AB4F55}" type="pres">
      <dgm:prSet presAssocID="{6E73B160-C8DF-4A37-95F2-F8B7C2D45250}" presName="LevelTwoTextNode" presStyleLbl="node3" presStyleIdx="4" presStyleCnt="8" custLinFactNeighborX="60677" custLinFactNeighborY="-36465">
        <dgm:presLayoutVars>
          <dgm:chPref val="3"/>
        </dgm:presLayoutVars>
      </dgm:prSet>
      <dgm:spPr/>
    </dgm:pt>
    <dgm:pt modelId="{1B7C5895-3BB7-4CF4-98D7-8C6082EE31C0}" type="pres">
      <dgm:prSet presAssocID="{6E73B160-C8DF-4A37-95F2-F8B7C2D45250}" presName="level3hierChild" presStyleCnt="0"/>
      <dgm:spPr/>
    </dgm:pt>
    <dgm:pt modelId="{76B2934D-10F6-4A82-BB41-81B7F69ED622}" type="pres">
      <dgm:prSet presAssocID="{F870F174-50B3-462E-AB22-88E3FE7F9685}" presName="conn2-1" presStyleLbl="parChTrans1D2" presStyleIdx="1" presStyleCnt="2"/>
      <dgm:spPr/>
    </dgm:pt>
    <dgm:pt modelId="{76ACFA3C-BCCE-41B6-AAB5-209022BB3CB4}" type="pres">
      <dgm:prSet presAssocID="{F870F174-50B3-462E-AB22-88E3FE7F9685}" presName="connTx" presStyleLbl="parChTrans1D2" presStyleIdx="1" presStyleCnt="2"/>
      <dgm:spPr/>
    </dgm:pt>
    <dgm:pt modelId="{6C8358F8-CB88-44D0-AC77-EF38F813605F}" type="pres">
      <dgm:prSet presAssocID="{D33F5765-8693-496C-AABF-E616A66F74D2}" presName="root2" presStyleCnt="0"/>
      <dgm:spPr/>
    </dgm:pt>
    <dgm:pt modelId="{296EBE77-0AFE-4F33-8EF3-A0952D8D607B}" type="pres">
      <dgm:prSet presAssocID="{D33F5765-8693-496C-AABF-E616A66F74D2}" presName="LevelTwoTextNode" presStyleLbl="node2" presStyleIdx="1" presStyleCnt="2" custScaleX="163077" custScaleY="227690" custLinFactNeighborX="-95817" custLinFactNeighborY="-90791">
        <dgm:presLayoutVars>
          <dgm:chPref val="3"/>
        </dgm:presLayoutVars>
      </dgm:prSet>
      <dgm:spPr/>
    </dgm:pt>
    <dgm:pt modelId="{F60926B2-45E5-4BEE-AEE0-1CD19CA23E9A}" type="pres">
      <dgm:prSet presAssocID="{D33F5765-8693-496C-AABF-E616A66F74D2}" presName="level3hierChild" presStyleCnt="0"/>
      <dgm:spPr/>
    </dgm:pt>
    <dgm:pt modelId="{EA0406AA-C496-40CA-85C1-A102F1243B4F}" type="pres">
      <dgm:prSet presAssocID="{22C43601-4CAF-41A2-809A-EFE6AABA652F}" presName="conn2-1" presStyleLbl="parChTrans1D3" presStyleIdx="5" presStyleCnt="8"/>
      <dgm:spPr/>
    </dgm:pt>
    <dgm:pt modelId="{F3AEE93A-14C9-4FD3-B4D6-A1EF9AA7C3A6}" type="pres">
      <dgm:prSet presAssocID="{22C43601-4CAF-41A2-809A-EFE6AABA652F}" presName="connTx" presStyleLbl="parChTrans1D3" presStyleIdx="5" presStyleCnt="8"/>
      <dgm:spPr/>
    </dgm:pt>
    <dgm:pt modelId="{F1A526E3-7808-4F16-A3A4-7094F5DA8E4F}" type="pres">
      <dgm:prSet presAssocID="{7CF69A45-2C76-472C-96B4-282BF7EB607B}" presName="root2" presStyleCnt="0"/>
      <dgm:spPr/>
    </dgm:pt>
    <dgm:pt modelId="{26133CB1-99A8-47D9-8C0C-9C2043ECC181}" type="pres">
      <dgm:prSet presAssocID="{7CF69A45-2C76-472C-96B4-282BF7EB607B}" presName="LevelTwoTextNode" presStyleLbl="node3" presStyleIdx="5" presStyleCnt="8" custLinFactNeighborX="30144" custLinFactNeighborY="14222">
        <dgm:presLayoutVars>
          <dgm:chPref val="3"/>
        </dgm:presLayoutVars>
      </dgm:prSet>
      <dgm:spPr/>
    </dgm:pt>
    <dgm:pt modelId="{4A860333-3799-4404-AD20-B8521933DC17}" type="pres">
      <dgm:prSet presAssocID="{7CF69A45-2C76-472C-96B4-282BF7EB607B}" presName="level3hierChild" presStyleCnt="0"/>
      <dgm:spPr/>
    </dgm:pt>
    <dgm:pt modelId="{93D52507-7690-4FAE-B2B3-62B71A8F8F47}" type="pres">
      <dgm:prSet presAssocID="{5E7C6AB2-DBED-4B97-AEEF-F00D5D65881C}" presName="conn2-1" presStyleLbl="parChTrans1D3" presStyleIdx="6" presStyleCnt="8"/>
      <dgm:spPr/>
    </dgm:pt>
    <dgm:pt modelId="{6C2CE07C-19A8-4D90-BE22-D13EDB2BFD3F}" type="pres">
      <dgm:prSet presAssocID="{5E7C6AB2-DBED-4B97-AEEF-F00D5D65881C}" presName="connTx" presStyleLbl="parChTrans1D3" presStyleIdx="6" presStyleCnt="8"/>
      <dgm:spPr/>
    </dgm:pt>
    <dgm:pt modelId="{5E89D873-313B-41F1-B743-8E5EC251D426}" type="pres">
      <dgm:prSet presAssocID="{BC41F7FC-55E4-4760-B04B-A536C6F87FC6}" presName="root2" presStyleCnt="0"/>
      <dgm:spPr/>
    </dgm:pt>
    <dgm:pt modelId="{95094FED-5828-410C-8F18-F943973B2FAE}" type="pres">
      <dgm:prSet presAssocID="{BC41F7FC-55E4-4760-B04B-A536C6F87FC6}" presName="LevelTwoTextNode" presStyleLbl="node3" presStyleIdx="6" presStyleCnt="8" custLinFactNeighborX="30144" custLinFactNeighborY="-779">
        <dgm:presLayoutVars>
          <dgm:chPref val="3"/>
        </dgm:presLayoutVars>
      </dgm:prSet>
      <dgm:spPr/>
    </dgm:pt>
    <dgm:pt modelId="{1FD28A82-D52B-4477-9AF1-6C3364A5A60D}" type="pres">
      <dgm:prSet presAssocID="{BC41F7FC-55E4-4760-B04B-A536C6F87FC6}" presName="level3hierChild" presStyleCnt="0"/>
      <dgm:spPr/>
    </dgm:pt>
    <dgm:pt modelId="{BA333E01-93B7-4E18-88DF-2943AC372942}" type="pres">
      <dgm:prSet presAssocID="{2847EDBC-A504-454A-913B-221219927AE4}" presName="conn2-1" presStyleLbl="parChTrans1D3" presStyleIdx="7" presStyleCnt="8"/>
      <dgm:spPr/>
    </dgm:pt>
    <dgm:pt modelId="{7DC94A50-A7BE-4A40-BCFF-E50F8F6BC8FD}" type="pres">
      <dgm:prSet presAssocID="{2847EDBC-A504-454A-913B-221219927AE4}" presName="connTx" presStyleLbl="parChTrans1D3" presStyleIdx="7" presStyleCnt="8"/>
      <dgm:spPr/>
    </dgm:pt>
    <dgm:pt modelId="{309678A7-FF62-405F-9412-B6AB63D42046}" type="pres">
      <dgm:prSet presAssocID="{A3D71B83-51AF-4EB7-9F48-23CEFB73718E}" presName="root2" presStyleCnt="0"/>
      <dgm:spPr/>
    </dgm:pt>
    <dgm:pt modelId="{84341910-2E84-4097-9192-B8F0EFC27628}" type="pres">
      <dgm:prSet presAssocID="{A3D71B83-51AF-4EB7-9F48-23CEFB73718E}" presName="LevelTwoTextNode" presStyleLbl="node3" presStyleIdx="7" presStyleCnt="8" custScaleY="109325" custLinFactNeighborX="29946" custLinFactNeighborY="-14386">
        <dgm:presLayoutVars>
          <dgm:chPref val="3"/>
        </dgm:presLayoutVars>
      </dgm:prSet>
      <dgm:spPr/>
    </dgm:pt>
    <dgm:pt modelId="{7EE9290A-963D-4E97-A091-3B992D5EA0EA}" type="pres">
      <dgm:prSet presAssocID="{A3D71B83-51AF-4EB7-9F48-23CEFB73718E}" presName="level3hierChild" presStyleCnt="0"/>
      <dgm:spPr/>
    </dgm:pt>
  </dgm:ptLst>
  <dgm:cxnLst>
    <dgm:cxn modelId="{D50FBC02-8341-4873-B222-23813355342A}" type="presOf" srcId="{6E238525-0CFC-44B3-94A3-32FFE3F52A4D}" destId="{875BB4CA-3C75-4BF2-883F-5BF6FD5827E2}" srcOrd="0" destOrd="0" presId="urn:microsoft.com/office/officeart/2005/8/layout/hierarchy2"/>
    <dgm:cxn modelId="{D43C6907-8A3E-4AEB-98DC-3BF2A90DCD5B}" type="presOf" srcId="{A3D71B83-51AF-4EB7-9F48-23CEFB73718E}" destId="{84341910-2E84-4097-9192-B8F0EFC27628}" srcOrd="0" destOrd="0" presId="urn:microsoft.com/office/officeart/2005/8/layout/hierarchy2"/>
    <dgm:cxn modelId="{25532C08-1DC3-4DC3-80B1-F9B19E1671E1}" type="presOf" srcId="{2BF71C19-34CD-42D0-BDDB-5313AEB3F3F9}" destId="{0CBCB982-5193-4C5B-B21E-21510ABA8191}" srcOrd="1" destOrd="0" presId="urn:microsoft.com/office/officeart/2005/8/layout/hierarchy2"/>
    <dgm:cxn modelId="{92DF4C13-35F0-4FBD-A8BC-B3D49E778B61}" type="presOf" srcId="{D33F5765-8693-496C-AABF-E616A66F74D2}" destId="{296EBE77-0AFE-4F33-8EF3-A0952D8D607B}" srcOrd="0" destOrd="0" presId="urn:microsoft.com/office/officeart/2005/8/layout/hierarchy2"/>
    <dgm:cxn modelId="{B1D12E15-E999-4FEE-9D16-4DA6F231D7EA}" type="presOf" srcId="{E70DB1C0-BAFE-4AC9-876E-C3B311447235}" destId="{C3F12B18-9673-4143-863C-49D4F8DB3A21}" srcOrd="1" destOrd="0" presId="urn:microsoft.com/office/officeart/2005/8/layout/hierarchy2"/>
    <dgm:cxn modelId="{4920B925-9761-4197-A955-2C4E74E37612}" type="presOf" srcId="{5E7C6AB2-DBED-4B97-AEEF-F00D5D65881C}" destId="{6C2CE07C-19A8-4D90-BE22-D13EDB2BFD3F}" srcOrd="1" destOrd="0" presId="urn:microsoft.com/office/officeart/2005/8/layout/hierarchy2"/>
    <dgm:cxn modelId="{6B671128-D5D9-48B6-8B40-77536F406CC6}" type="presOf" srcId="{409DEDC2-B1AF-4609-A8F8-2DAF078F167E}" destId="{76E30FBB-6023-4EEF-B456-7342FE07615D}" srcOrd="0" destOrd="0" presId="urn:microsoft.com/office/officeart/2005/8/layout/hierarchy2"/>
    <dgm:cxn modelId="{EB4CF02E-B034-4C8E-8AB3-0744031AB662}" type="presOf" srcId="{F870F174-50B3-462E-AB22-88E3FE7F9685}" destId="{76B2934D-10F6-4A82-BB41-81B7F69ED622}" srcOrd="0" destOrd="0" presId="urn:microsoft.com/office/officeart/2005/8/layout/hierarchy2"/>
    <dgm:cxn modelId="{DF62FD2F-05FD-4ABA-B6B7-C6B998117DA9}" type="presOf" srcId="{E70DB1C0-BAFE-4AC9-876E-C3B311447235}" destId="{F4547B07-2007-4D70-A612-AF25BF88A039}" srcOrd="0" destOrd="0" presId="urn:microsoft.com/office/officeart/2005/8/layout/hierarchy2"/>
    <dgm:cxn modelId="{1FD08C36-CED8-41EC-9920-033B1ED5FE69}" type="presOf" srcId="{7CF69A45-2C76-472C-96B4-282BF7EB607B}" destId="{26133CB1-99A8-47D9-8C0C-9C2043ECC181}" srcOrd="0" destOrd="0" presId="urn:microsoft.com/office/officeart/2005/8/layout/hierarchy2"/>
    <dgm:cxn modelId="{74ACC038-9532-44D6-A35B-39D9BC3CC109}" srcId="{D33F5765-8693-496C-AABF-E616A66F74D2}" destId="{BC41F7FC-55E4-4760-B04B-A536C6F87FC6}" srcOrd="1" destOrd="0" parTransId="{5E7C6AB2-DBED-4B97-AEEF-F00D5D65881C}" sibTransId="{287CEFDF-B583-43B5-AEE1-7AF07AD2EDEA}"/>
    <dgm:cxn modelId="{9C20713D-D12B-4848-90E1-6DDD4E53C8F9}" type="presOf" srcId="{093B46F9-4220-46EF-B376-33AF09A23BDA}" destId="{72611116-8376-4581-BF5D-151FF16930D3}" srcOrd="0" destOrd="0" presId="urn:microsoft.com/office/officeart/2005/8/layout/hierarchy2"/>
    <dgm:cxn modelId="{134EBC40-A8A0-41F0-8CE9-A6209C3C23AE}" type="presOf" srcId="{77DB4357-F31B-47D5-9136-D7A717467628}" destId="{F37BBA3B-F977-446C-AFCD-97626705A0A7}" srcOrd="1" destOrd="0" presId="urn:microsoft.com/office/officeart/2005/8/layout/hierarchy2"/>
    <dgm:cxn modelId="{D08DC340-9C43-48FA-BBF4-8F5A1ACE3CA4}" srcId="{D33F5765-8693-496C-AABF-E616A66F74D2}" destId="{7CF69A45-2C76-472C-96B4-282BF7EB607B}" srcOrd="0" destOrd="0" parTransId="{22C43601-4CAF-41A2-809A-EFE6AABA652F}" sibTransId="{94FBD7EA-D637-4EFC-8940-7902BB02CE26}"/>
    <dgm:cxn modelId="{22493662-C516-4E6B-8A8C-23ED44330A27}" srcId="{D33F5765-8693-496C-AABF-E616A66F74D2}" destId="{A3D71B83-51AF-4EB7-9F48-23CEFB73718E}" srcOrd="2" destOrd="0" parTransId="{2847EDBC-A504-454A-913B-221219927AE4}" sibTransId="{4F850C4B-3FEB-43A0-B0DD-13371F95AA0E}"/>
    <dgm:cxn modelId="{35A70046-D815-446C-B4F9-D11A3A898F72}" srcId="{B40B512F-AC92-48DD-A598-E95217B7D6E8}" destId="{6A494E5A-5C0F-4709-9D1D-EF67805BDC9D}" srcOrd="0" destOrd="0" parTransId="{E8AE2748-9013-40C9-A3AB-43798FFC6825}" sibTransId="{82829ACC-43E7-45C6-AF88-B6603D01CB51}"/>
    <dgm:cxn modelId="{FA5BFB47-FADA-4798-91A5-332F05A237C1}" type="presOf" srcId="{55D5B2C9-F9AD-4EA5-822A-E85B55CDC5E6}" destId="{A87877DD-8965-4AE5-99B7-99443CD165A5}" srcOrd="0" destOrd="0" presId="urn:microsoft.com/office/officeart/2005/8/layout/hierarchy2"/>
    <dgm:cxn modelId="{82FB714B-7154-42B9-81EF-3837CCC40ABC}" srcId="{6A494E5A-5C0F-4709-9D1D-EF67805BDC9D}" destId="{6E238525-0CFC-44B3-94A3-32FFE3F52A4D}" srcOrd="1" destOrd="0" parTransId="{77DB4357-F31B-47D5-9136-D7A717467628}" sibTransId="{265AEDB4-1F7B-4DE7-8967-9103080300B2}"/>
    <dgm:cxn modelId="{2F94844C-302C-4111-A4DB-47D58F41A3EC}" type="presOf" srcId="{BC41F7FC-55E4-4760-B04B-A536C6F87FC6}" destId="{95094FED-5828-410C-8F18-F943973B2FAE}" srcOrd="0" destOrd="0" presId="urn:microsoft.com/office/officeart/2005/8/layout/hierarchy2"/>
    <dgm:cxn modelId="{8BE83D6D-A981-4B1B-93F6-A13FCA8F5600}" type="presOf" srcId="{22C43601-4CAF-41A2-809A-EFE6AABA652F}" destId="{EA0406AA-C496-40CA-85C1-A102F1243B4F}" srcOrd="0" destOrd="0" presId="urn:microsoft.com/office/officeart/2005/8/layout/hierarchy2"/>
    <dgm:cxn modelId="{C3E4B673-BF60-4A25-90E2-A9A2EEC1A4B8}" type="presOf" srcId="{6E73B160-C8DF-4A37-95F2-F8B7C2D45250}" destId="{9E329899-E579-4046-A07D-CF40F1AB4F55}" srcOrd="0" destOrd="0" presId="urn:microsoft.com/office/officeart/2005/8/layout/hierarchy2"/>
    <dgm:cxn modelId="{876D2658-1705-4B73-AC20-378FC6C08D94}" type="presOf" srcId="{E8AE2748-9013-40C9-A3AB-43798FFC6825}" destId="{9E03A874-7DEC-4685-AAF6-72CE5A431DF0}" srcOrd="1" destOrd="0" presId="urn:microsoft.com/office/officeart/2005/8/layout/hierarchy2"/>
    <dgm:cxn modelId="{94865779-2073-4949-BA52-B6B0A36E9276}" type="presOf" srcId="{E8AE2748-9013-40C9-A3AB-43798FFC6825}" destId="{A4DC0B7B-5183-45B3-BD85-CF332B391029}" srcOrd="0" destOrd="0" presId="urn:microsoft.com/office/officeart/2005/8/layout/hierarchy2"/>
    <dgm:cxn modelId="{4136AE59-CD20-4AFD-AE2E-1BF361494739}" srcId="{B40B512F-AC92-48DD-A598-E95217B7D6E8}" destId="{D33F5765-8693-496C-AABF-E616A66F74D2}" srcOrd="1" destOrd="0" parTransId="{F870F174-50B3-462E-AB22-88E3FE7F9685}" sibTransId="{F7FEBBF7-6EC4-4F2E-9423-FD50E949FB06}"/>
    <dgm:cxn modelId="{AC4BC65A-665D-4B79-958B-965C7A4A69C4}" type="presOf" srcId="{9AD98464-E75A-4D27-8BA4-F6309D1AF4A6}" destId="{4806267A-FA0C-4C8C-9FC0-567C281219CC}" srcOrd="0" destOrd="0" presId="urn:microsoft.com/office/officeart/2005/8/layout/hierarchy2"/>
    <dgm:cxn modelId="{4FD1DF5A-4040-405F-A947-EB0394E371DA}" type="presOf" srcId="{FA55B475-E9A2-48B1-AF3C-9A02B5D9A466}" destId="{7B1C6AFB-CA2F-413B-82A2-6B0B972AE6B7}" srcOrd="0" destOrd="0" presId="urn:microsoft.com/office/officeart/2005/8/layout/hierarchy2"/>
    <dgm:cxn modelId="{108EB58C-4212-411F-A684-C863CB77D9DD}" type="presOf" srcId="{2847EDBC-A504-454A-913B-221219927AE4}" destId="{7DC94A50-A7BE-4A40-BCFF-E50F8F6BC8FD}" srcOrd="1" destOrd="0" presId="urn:microsoft.com/office/officeart/2005/8/layout/hierarchy2"/>
    <dgm:cxn modelId="{AA6A318E-B9CE-43BD-BE5F-8A97F5251B45}" type="presOf" srcId="{409DEDC2-B1AF-4609-A8F8-2DAF078F167E}" destId="{0ABE0C86-398E-42DA-BC86-98FCB90C604C}" srcOrd="1" destOrd="0" presId="urn:microsoft.com/office/officeart/2005/8/layout/hierarchy2"/>
    <dgm:cxn modelId="{E216DA8E-9205-4C2F-824C-711F95BFF720}" type="presOf" srcId="{6A494E5A-5C0F-4709-9D1D-EF67805BDC9D}" destId="{447D7ACF-02E7-4688-B4E9-7D7E559CC929}" srcOrd="0" destOrd="0" presId="urn:microsoft.com/office/officeart/2005/8/layout/hierarchy2"/>
    <dgm:cxn modelId="{CF624591-3961-45A6-95CE-4B0CF44ED5AC}" type="presOf" srcId="{F870F174-50B3-462E-AB22-88E3FE7F9685}" destId="{76ACFA3C-BCCE-41B6-AAB5-209022BB3CB4}" srcOrd="1" destOrd="0" presId="urn:microsoft.com/office/officeart/2005/8/layout/hierarchy2"/>
    <dgm:cxn modelId="{1D7FCF95-558C-44AE-90E1-6F95BE14BF96}" srcId="{6A494E5A-5C0F-4709-9D1D-EF67805BDC9D}" destId="{7BE03340-0E49-456A-A3BA-F6011E6E3B7C}" srcOrd="2" destOrd="0" parTransId="{409DEDC2-B1AF-4609-A8F8-2DAF078F167E}" sibTransId="{26155D2D-39CF-4CC6-AC42-B7A4AABB0B8C}"/>
    <dgm:cxn modelId="{C8EA69A7-ED9F-489D-BC8A-7DA6839A8EBA}" srcId="{6A494E5A-5C0F-4709-9D1D-EF67805BDC9D}" destId="{093B46F9-4220-46EF-B376-33AF09A23BDA}" srcOrd="0" destOrd="0" parTransId="{9AD98464-E75A-4D27-8BA4-F6309D1AF4A6}" sibTransId="{EE468756-5DB1-405E-9D1C-EB4022D59408}"/>
    <dgm:cxn modelId="{DCEFA8BA-ECB1-43E1-9154-D4B614CBFE01}" srcId="{55D5B2C9-F9AD-4EA5-822A-E85B55CDC5E6}" destId="{B40B512F-AC92-48DD-A598-E95217B7D6E8}" srcOrd="0" destOrd="0" parTransId="{6DDD2F11-2592-4CC1-BBE9-AA074DFDB45B}" sibTransId="{08C427E6-45BB-4576-B9D3-118B4B91FA31}"/>
    <dgm:cxn modelId="{0903A5CC-854A-4856-BA75-CB2783BB4661}" type="presOf" srcId="{77DB4357-F31B-47D5-9136-D7A717467628}" destId="{916F8DFE-C446-4547-A1F1-EE033249316A}" srcOrd="0" destOrd="0" presId="urn:microsoft.com/office/officeart/2005/8/layout/hierarchy2"/>
    <dgm:cxn modelId="{1113D2E1-8267-4394-881E-0E706FEFD53E}" type="presOf" srcId="{22C43601-4CAF-41A2-809A-EFE6AABA652F}" destId="{F3AEE93A-14C9-4FD3-B4D6-A1EF9AA7C3A6}" srcOrd="1" destOrd="0" presId="urn:microsoft.com/office/officeart/2005/8/layout/hierarchy2"/>
    <dgm:cxn modelId="{93AC8CEA-AC51-43F5-A19A-0F67E6F7F529}" type="presOf" srcId="{5E7C6AB2-DBED-4B97-AEEF-F00D5D65881C}" destId="{93D52507-7690-4FAE-B2B3-62B71A8F8F47}" srcOrd="0" destOrd="0" presId="urn:microsoft.com/office/officeart/2005/8/layout/hierarchy2"/>
    <dgm:cxn modelId="{4E792FEE-2EFB-4D23-B4A8-7A5FA9CCFA87}" type="presOf" srcId="{2847EDBC-A504-454A-913B-221219927AE4}" destId="{BA333E01-93B7-4E18-88DF-2943AC372942}" srcOrd="0" destOrd="0" presId="urn:microsoft.com/office/officeart/2005/8/layout/hierarchy2"/>
    <dgm:cxn modelId="{78DE95EE-E7CB-4B2F-815F-233B7A7DD55C}" type="presOf" srcId="{B40B512F-AC92-48DD-A598-E95217B7D6E8}" destId="{3CB72E4E-2959-4561-9DC4-93979A7E5D5D}" srcOrd="0" destOrd="0" presId="urn:microsoft.com/office/officeart/2005/8/layout/hierarchy2"/>
    <dgm:cxn modelId="{DC5296F2-20AE-437E-BF1D-017CB3FA59AB}" type="presOf" srcId="{2BF71C19-34CD-42D0-BDDB-5313AEB3F3F9}" destId="{2EB0BB37-5C07-4DB7-B539-7CE2E8AB5580}" srcOrd="0" destOrd="0" presId="urn:microsoft.com/office/officeart/2005/8/layout/hierarchy2"/>
    <dgm:cxn modelId="{B794B6F3-0D2D-4977-84BC-8F5FF473F7E2}" type="presOf" srcId="{9AD98464-E75A-4D27-8BA4-F6309D1AF4A6}" destId="{FA0865EB-5A8B-41C2-BF18-7CAC84CE1465}" srcOrd="1" destOrd="0" presId="urn:microsoft.com/office/officeart/2005/8/layout/hierarchy2"/>
    <dgm:cxn modelId="{BAAC36F6-90A7-4733-8A77-3C4C681599C8}" type="presOf" srcId="{7BE03340-0E49-456A-A3BA-F6011E6E3B7C}" destId="{AE591BB0-A38B-40EE-8683-8AF4425C2C74}" srcOrd="0" destOrd="0" presId="urn:microsoft.com/office/officeart/2005/8/layout/hierarchy2"/>
    <dgm:cxn modelId="{56D23EFA-B66F-48F8-AF91-1EC6C0EDADE1}" srcId="{6A494E5A-5C0F-4709-9D1D-EF67805BDC9D}" destId="{FA55B475-E9A2-48B1-AF3C-9A02B5D9A466}" srcOrd="3" destOrd="0" parTransId="{E70DB1C0-BAFE-4AC9-876E-C3B311447235}" sibTransId="{59E87B68-8657-4D92-965D-73B16E60A33B}"/>
    <dgm:cxn modelId="{7C011AFE-B2BD-4458-B3D9-AFAFBF024AFE}" srcId="{6A494E5A-5C0F-4709-9D1D-EF67805BDC9D}" destId="{6E73B160-C8DF-4A37-95F2-F8B7C2D45250}" srcOrd="4" destOrd="0" parTransId="{2BF71C19-34CD-42D0-BDDB-5313AEB3F3F9}" sibTransId="{13AF54D8-4169-4C26-85BC-DD1B800BE6A1}"/>
    <dgm:cxn modelId="{9F0D4F4F-2FD6-479A-BA9C-A3919EBCB015}" type="presParOf" srcId="{A87877DD-8965-4AE5-99B7-99443CD165A5}" destId="{5C9FB7C6-EA85-4826-99C1-44D36C247A80}" srcOrd="0" destOrd="0" presId="urn:microsoft.com/office/officeart/2005/8/layout/hierarchy2"/>
    <dgm:cxn modelId="{16E97BD1-6ADA-4CDF-9E5E-E02B8E9A27E0}" type="presParOf" srcId="{5C9FB7C6-EA85-4826-99C1-44D36C247A80}" destId="{3CB72E4E-2959-4561-9DC4-93979A7E5D5D}" srcOrd="0" destOrd="0" presId="urn:microsoft.com/office/officeart/2005/8/layout/hierarchy2"/>
    <dgm:cxn modelId="{1CD3BE5D-9C2A-470F-908D-10B490E35D05}" type="presParOf" srcId="{5C9FB7C6-EA85-4826-99C1-44D36C247A80}" destId="{2549254A-F7B0-4B54-85CD-00E49F000F73}" srcOrd="1" destOrd="0" presId="urn:microsoft.com/office/officeart/2005/8/layout/hierarchy2"/>
    <dgm:cxn modelId="{C85C5A1F-4428-4DE1-ABAE-84F8622A4B8F}" type="presParOf" srcId="{2549254A-F7B0-4B54-85CD-00E49F000F73}" destId="{A4DC0B7B-5183-45B3-BD85-CF332B391029}" srcOrd="0" destOrd="0" presId="urn:microsoft.com/office/officeart/2005/8/layout/hierarchy2"/>
    <dgm:cxn modelId="{A8DB529A-A783-4C0D-A852-B4E237356E19}" type="presParOf" srcId="{A4DC0B7B-5183-45B3-BD85-CF332B391029}" destId="{9E03A874-7DEC-4685-AAF6-72CE5A431DF0}" srcOrd="0" destOrd="0" presId="urn:microsoft.com/office/officeart/2005/8/layout/hierarchy2"/>
    <dgm:cxn modelId="{A3F68534-6897-4E47-9894-56599AA8A8F0}" type="presParOf" srcId="{2549254A-F7B0-4B54-85CD-00E49F000F73}" destId="{6D5A2D39-BC87-46F5-9AE7-9A813080C2F2}" srcOrd="1" destOrd="0" presId="urn:microsoft.com/office/officeart/2005/8/layout/hierarchy2"/>
    <dgm:cxn modelId="{32E3D64F-A1B9-4B73-A17D-25338F1B6FA7}" type="presParOf" srcId="{6D5A2D39-BC87-46F5-9AE7-9A813080C2F2}" destId="{447D7ACF-02E7-4688-B4E9-7D7E559CC929}" srcOrd="0" destOrd="0" presId="urn:microsoft.com/office/officeart/2005/8/layout/hierarchy2"/>
    <dgm:cxn modelId="{74738346-723F-4D23-9068-AA11CA1C78D0}" type="presParOf" srcId="{6D5A2D39-BC87-46F5-9AE7-9A813080C2F2}" destId="{3E166913-4C70-4FF8-9D43-212563856BA9}" srcOrd="1" destOrd="0" presId="urn:microsoft.com/office/officeart/2005/8/layout/hierarchy2"/>
    <dgm:cxn modelId="{23B26999-EE2D-4B2C-AD5F-6C70F383E7B9}" type="presParOf" srcId="{3E166913-4C70-4FF8-9D43-212563856BA9}" destId="{4806267A-FA0C-4C8C-9FC0-567C281219CC}" srcOrd="0" destOrd="0" presId="urn:microsoft.com/office/officeart/2005/8/layout/hierarchy2"/>
    <dgm:cxn modelId="{C0E44EE6-338E-4D51-BFE2-E2E74B5D9BC7}" type="presParOf" srcId="{4806267A-FA0C-4C8C-9FC0-567C281219CC}" destId="{FA0865EB-5A8B-41C2-BF18-7CAC84CE1465}" srcOrd="0" destOrd="0" presId="urn:microsoft.com/office/officeart/2005/8/layout/hierarchy2"/>
    <dgm:cxn modelId="{8390A373-6270-43C9-B86D-AFAA53D8E95C}" type="presParOf" srcId="{3E166913-4C70-4FF8-9D43-212563856BA9}" destId="{72061038-324B-4ABC-AF50-806CEB02FBEA}" srcOrd="1" destOrd="0" presId="urn:microsoft.com/office/officeart/2005/8/layout/hierarchy2"/>
    <dgm:cxn modelId="{470B5168-5F2A-47A4-9517-2F2587C52DC0}" type="presParOf" srcId="{72061038-324B-4ABC-AF50-806CEB02FBEA}" destId="{72611116-8376-4581-BF5D-151FF16930D3}" srcOrd="0" destOrd="0" presId="urn:microsoft.com/office/officeart/2005/8/layout/hierarchy2"/>
    <dgm:cxn modelId="{EFA534D2-4A00-4606-8FAF-BBD031A034A7}" type="presParOf" srcId="{72061038-324B-4ABC-AF50-806CEB02FBEA}" destId="{CD0B7F58-333F-401E-B913-AD09371C82C9}" srcOrd="1" destOrd="0" presId="urn:microsoft.com/office/officeart/2005/8/layout/hierarchy2"/>
    <dgm:cxn modelId="{910D3C7B-CCC0-4356-A627-DDD6C858102F}" type="presParOf" srcId="{3E166913-4C70-4FF8-9D43-212563856BA9}" destId="{916F8DFE-C446-4547-A1F1-EE033249316A}" srcOrd="2" destOrd="0" presId="urn:microsoft.com/office/officeart/2005/8/layout/hierarchy2"/>
    <dgm:cxn modelId="{D31AA686-D81F-49BC-AB84-EB9BF83D9F4B}" type="presParOf" srcId="{916F8DFE-C446-4547-A1F1-EE033249316A}" destId="{F37BBA3B-F977-446C-AFCD-97626705A0A7}" srcOrd="0" destOrd="0" presId="urn:microsoft.com/office/officeart/2005/8/layout/hierarchy2"/>
    <dgm:cxn modelId="{77AAE570-F682-4588-BD15-B8CBF3D7D50A}" type="presParOf" srcId="{3E166913-4C70-4FF8-9D43-212563856BA9}" destId="{894E4DB0-199C-422C-91A5-D1DB8AFA38A2}" srcOrd="3" destOrd="0" presId="urn:microsoft.com/office/officeart/2005/8/layout/hierarchy2"/>
    <dgm:cxn modelId="{C81B1043-B320-40E5-A992-841135FC1907}" type="presParOf" srcId="{894E4DB0-199C-422C-91A5-D1DB8AFA38A2}" destId="{875BB4CA-3C75-4BF2-883F-5BF6FD5827E2}" srcOrd="0" destOrd="0" presId="urn:microsoft.com/office/officeart/2005/8/layout/hierarchy2"/>
    <dgm:cxn modelId="{84F628AE-1F1F-4959-AE3B-0690D2F2EF56}" type="presParOf" srcId="{894E4DB0-199C-422C-91A5-D1DB8AFA38A2}" destId="{14EB0BF7-296A-4ED9-A3C7-54244B3DE1D1}" srcOrd="1" destOrd="0" presId="urn:microsoft.com/office/officeart/2005/8/layout/hierarchy2"/>
    <dgm:cxn modelId="{84067C94-BD59-470F-8A77-7EB43289CDC5}" type="presParOf" srcId="{3E166913-4C70-4FF8-9D43-212563856BA9}" destId="{76E30FBB-6023-4EEF-B456-7342FE07615D}" srcOrd="4" destOrd="0" presId="urn:microsoft.com/office/officeart/2005/8/layout/hierarchy2"/>
    <dgm:cxn modelId="{4175A48E-7EDB-402B-B6A3-F381142B708F}" type="presParOf" srcId="{76E30FBB-6023-4EEF-B456-7342FE07615D}" destId="{0ABE0C86-398E-42DA-BC86-98FCB90C604C}" srcOrd="0" destOrd="0" presId="urn:microsoft.com/office/officeart/2005/8/layout/hierarchy2"/>
    <dgm:cxn modelId="{1E2CE78A-E493-4417-B863-863AB35C0DDD}" type="presParOf" srcId="{3E166913-4C70-4FF8-9D43-212563856BA9}" destId="{81101B97-7DF5-43C0-A2D5-5E93C788D895}" srcOrd="5" destOrd="0" presId="urn:microsoft.com/office/officeart/2005/8/layout/hierarchy2"/>
    <dgm:cxn modelId="{811212DC-7DF7-4A6B-9E79-154A772639FA}" type="presParOf" srcId="{81101B97-7DF5-43C0-A2D5-5E93C788D895}" destId="{AE591BB0-A38B-40EE-8683-8AF4425C2C74}" srcOrd="0" destOrd="0" presId="urn:microsoft.com/office/officeart/2005/8/layout/hierarchy2"/>
    <dgm:cxn modelId="{DFE4E30D-3306-4B87-9524-DFA9498C5D99}" type="presParOf" srcId="{81101B97-7DF5-43C0-A2D5-5E93C788D895}" destId="{E3E46512-B926-4133-BFCA-F2200E980157}" srcOrd="1" destOrd="0" presId="urn:microsoft.com/office/officeart/2005/8/layout/hierarchy2"/>
    <dgm:cxn modelId="{5D7FD172-4AAD-4A57-9EEB-334C692CFBC6}" type="presParOf" srcId="{3E166913-4C70-4FF8-9D43-212563856BA9}" destId="{F4547B07-2007-4D70-A612-AF25BF88A039}" srcOrd="6" destOrd="0" presId="urn:microsoft.com/office/officeart/2005/8/layout/hierarchy2"/>
    <dgm:cxn modelId="{7E35806F-19E5-43B8-A3BF-45D881B3E6D5}" type="presParOf" srcId="{F4547B07-2007-4D70-A612-AF25BF88A039}" destId="{C3F12B18-9673-4143-863C-49D4F8DB3A21}" srcOrd="0" destOrd="0" presId="urn:microsoft.com/office/officeart/2005/8/layout/hierarchy2"/>
    <dgm:cxn modelId="{67E9345A-EEFF-40C5-B29C-DEB37F90D439}" type="presParOf" srcId="{3E166913-4C70-4FF8-9D43-212563856BA9}" destId="{7BA08F76-9935-41F0-9BCA-EEC4D049CD37}" srcOrd="7" destOrd="0" presId="urn:microsoft.com/office/officeart/2005/8/layout/hierarchy2"/>
    <dgm:cxn modelId="{6C46EA21-9888-4EC3-8C7B-8064BB30C5A0}" type="presParOf" srcId="{7BA08F76-9935-41F0-9BCA-EEC4D049CD37}" destId="{7B1C6AFB-CA2F-413B-82A2-6B0B972AE6B7}" srcOrd="0" destOrd="0" presId="urn:microsoft.com/office/officeart/2005/8/layout/hierarchy2"/>
    <dgm:cxn modelId="{12286656-0E34-4A53-A8BE-A32C70F9459C}" type="presParOf" srcId="{7BA08F76-9935-41F0-9BCA-EEC4D049CD37}" destId="{FA9AF079-6A13-4231-8D8D-A5532A835E7E}" srcOrd="1" destOrd="0" presId="urn:microsoft.com/office/officeart/2005/8/layout/hierarchy2"/>
    <dgm:cxn modelId="{5155AFDE-7C47-4B44-965A-7748A137E206}" type="presParOf" srcId="{3E166913-4C70-4FF8-9D43-212563856BA9}" destId="{2EB0BB37-5C07-4DB7-B539-7CE2E8AB5580}" srcOrd="8" destOrd="0" presId="urn:microsoft.com/office/officeart/2005/8/layout/hierarchy2"/>
    <dgm:cxn modelId="{A5DB2582-003F-47CE-9F63-5BF8EE0A03C1}" type="presParOf" srcId="{2EB0BB37-5C07-4DB7-B539-7CE2E8AB5580}" destId="{0CBCB982-5193-4C5B-B21E-21510ABA8191}" srcOrd="0" destOrd="0" presId="urn:microsoft.com/office/officeart/2005/8/layout/hierarchy2"/>
    <dgm:cxn modelId="{ED4D7D97-6DC5-403B-B0A0-CF5B140EC9E3}" type="presParOf" srcId="{3E166913-4C70-4FF8-9D43-212563856BA9}" destId="{5F007FA4-48AB-4AA0-886A-766F61FA8BCC}" srcOrd="9" destOrd="0" presId="urn:microsoft.com/office/officeart/2005/8/layout/hierarchy2"/>
    <dgm:cxn modelId="{BB860CA5-6AE5-443D-9430-D5B5E0EF28C3}" type="presParOf" srcId="{5F007FA4-48AB-4AA0-886A-766F61FA8BCC}" destId="{9E329899-E579-4046-A07D-CF40F1AB4F55}" srcOrd="0" destOrd="0" presId="urn:microsoft.com/office/officeart/2005/8/layout/hierarchy2"/>
    <dgm:cxn modelId="{5859877C-DE91-41BD-9C80-6E1447602AA2}" type="presParOf" srcId="{5F007FA4-48AB-4AA0-886A-766F61FA8BCC}" destId="{1B7C5895-3BB7-4CF4-98D7-8C6082EE31C0}" srcOrd="1" destOrd="0" presId="urn:microsoft.com/office/officeart/2005/8/layout/hierarchy2"/>
    <dgm:cxn modelId="{8C563F37-6695-4935-B362-44BAF083D5D3}" type="presParOf" srcId="{2549254A-F7B0-4B54-85CD-00E49F000F73}" destId="{76B2934D-10F6-4A82-BB41-81B7F69ED622}" srcOrd="2" destOrd="0" presId="urn:microsoft.com/office/officeart/2005/8/layout/hierarchy2"/>
    <dgm:cxn modelId="{C43FFEA2-4F5F-4462-9F47-F63D4D750209}" type="presParOf" srcId="{76B2934D-10F6-4A82-BB41-81B7F69ED622}" destId="{76ACFA3C-BCCE-41B6-AAB5-209022BB3CB4}" srcOrd="0" destOrd="0" presId="urn:microsoft.com/office/officeart/2005/8/layout/hierarchy2"/>
    <dgm:cxn modelId="{F1582E7F-0D19-4EF5-9532-DFF90D12F3BA}" type="presParOf" srcId="{2549254A-F7B0-4B54-85CD-00E49F000F73}" destId="{6C8358F8-CB88-44D0-AC77-EF38F813605F}" srcOrd="3" destOrd="0" presId="urn:microsoft.com/office/officeart/2005/8/layout/hierarchy2"/>
    <dgm:cxn modelId="{A7AA3872-1578-47DF-9E2B-542140927A72}" type="presParOf" srcId="{6C8358F8-CB88-44D0-AC77-EF38F813605F}" destId="{296EBE77-0AFE-4F33-8EF3-A0952D8D607B}" srcOrd="0" destOrd="0" presId="urn:microsoft.com/office/officeart/2005/8/layout/hierarchy2"/>
    <dgm:cxn modelId="{3FB53A5C-E7A1-4E9B-9178-7EC3AA0282FC}" type="presParOf" srcId="{6C8358F8-CB88-44D0-AC77-EF38F813605F}" destId="{F60926B2-45E5-4BEE-AEE0-1CD19CA23E9A}" srcOrd="1" destOrd="0" presId="urn:microsoft.com/office/officeart/2005/8/layout/hierarchy2"/>
    <dgm:cxn modelId="{4C3B437B-7A1B-472F-B0F3-1F3E4BF0E1E3}" type="presParOf" srcId="{F60926B2-45E5-4BEE-AEE0-1CD19CA23E9A}" destId="{EA0406AA-C496-40CA-85C1-A102F1243B4F}" srcOrd="0" destOrd="0" presId="urn:microsoft.com/office/officeart/2005/8/layout/hierarchy2"/>
    <dgm:cxn modelId="{262ACBF4-2B34-4F56-AF36-A05715495875}" type="presParOf" srcId="{EA0406AA-C496-40CA-85C1-A102F1243B4F}" destId="{F3AEE93A-14C9-4FD3-B4D6-A1EF9AA7C3A6}" srcOrd="0" destOrd="0" presId="urn:microsoft.com/office/officeart/2005/8/layout/hierarchy2"/>
    <dgm:cxn modelId="{FA99B88A-A026-437A-A546-B6784555014D}" type="presParOf" srcId="{F60926B2-45E5-4BEE-AEE0-1CD19CA23E9A}" destId="{F1A526E3-7808-4F16-A3A4-7094F5DA8E4F}" srcOrd="1" destOrd="0" presId="urn:microsoft.com/office/officeart/2005/8/layout/hierarchy2"/>
    <dgm:cxn modelId="{31B8311B-A841-44F2-910B-99256F5CB6FF}" type="presParOf" srcId="{F1A526E3-7808-4F16-A3A4-7094F5DA8E4F}" destId="{26133CB1-99A8-47D9-8C0C-9C2043ECC181}" srcOrd="0" destOrd="0" presId="urn:microsoft.com/office/officeart/2005/8/layout/hierarchy2"/>
    <dgm:cxn modelId="{4E1B1B91-3B74-4089-85E2-5F7D36284C26}" type="presParOf" srcId="{F1A526E3-7808-4F16-A3A4-7094F5DA8E4F}" destId="{4A860333-3799-4404-AD20-B8521933DC17}" srcOrd="1" destOrd="0" presId="urn:microsoft.com/office/officeart/2005/8/layout/hierarchy2"/>
    <dgm:cxn modelId="{D69552B7-E51B-4DE2-8ECA-B62DF6D5A6A5}" type="presParOf" srcId="{F60926B2-45E5-4BEE-AEE0-1CD19CA23E9A}" destId="{93D52507-7690-4FAE-B2B3-62B71A8F8F47}" srcOrd="2" destOrd="0" presId="urn:microsoft.com/office/officeart/2005/8/layout/hierarchy2"/>
    <dgm:cxn modelId="{4AF9A868-9AF4-4A8F-9AA4-BDF152A8EE8F}" type="presParOf" srcId="{93D52507-7690-4FAE-B2B3-62B71A8F8F47}" destId="{6C2CE07C-19A8-4D90-BE22-D13EDB2BFD3F}" srcOrd="0" destOrd="0" presId="urn:microsoft.com/office/officeart/2005/8/layout/hierarchy2"/>
    <dgm:cxn modelId="{5BBBCF41-2C9A-44B0-9B97-18E7E7BA2AC0}" type="presParOf" srcId="{F60926B2-45E5-4BEE-AEE0-1CD19CA23E9A}" destId="{5E89D873-313B-41F1-B743-8E5EC251D426}" srcOrd="3" destOrd="0" presId="urn:microsoft.com/office/officeart/2005/8/layout/hierarchy2"/>
    <dgm:cxn modelId="{B3F722CC-D895-46B4-BD5F-B60442F7A425}" type="presParOf" srcId="{5E89D873-313B-41F1-B743-8E5EC251D426}" destId="{95094FED-5828-410C-8F18-F943973B2FAE}" srcOrd="0" destOrd="0" presId="urn:microsoft.com/office/officeart/2005/8/layout/hierarchy2"/>
    <dgm:cxn modelId="{D472726D-9140-4081-B06C-0032E7BCAEEC}" type="presParOf" srcId="{5E89D873-313B-41F1-B743-8E5EC251D426}" destId="{1FD28A82-D52B-4477-9AF1-6C3364A5A60D}" srcOrd="1" destOrd="0" presId="urn:microsoft.com/office/officeart/2005/8/layout/hierarchy2"/>
    <dgm:cxn modelId="{7D83B076-38B0-4AD1-B593-FD1F891F0180}" type="presParOf" srcId="{F60926B2-45E5-4BEE-AEE0-1CD19CA23E9A}" destId="{BA333E01-93B7-4E18-88DF-2943AC372942}" srcOrd="4" destOrd="0" presId="urn:microsoft.com/office/officeart/2005/8/layout/hierarchy2"/>
    <dgm:cxn modelId="{B10C1A3B-D792-4FF7-A83F-054D52FEE230}" type="presParOf" srcId="{BA333E01-93B7-4E18-88DF-2943AC372942}" destId="{7DC94A50-A7BE-4A40-BCFF-E50F8F6BC8FD}" srcOrd="0" destOrd="0" presId="urn:microsoft.com/office/officeart/2005/8/layout/hierarchy2"/>
    <dgm:cxn modelId="{19782B18-8010-4E53-B6A4-226BFEE0E052}" type="presParOf" srcId="{F60926B2-45E5-4BEE-AEE0-1CD19CA23E9A}" destId="{309678A7-FF62-405F-9412-B6AB63D42046}" srcOrd="5" destOrd="0" presId="urn:microsoft.com/office/officeart/2005/8/layout/hierarchy2"/>
    <dgm:cxn modelId="{8FBDE893-9614-4C86-B195-05306D5A8575}" type="presParOf" srcId="{309678A7-FF62-405F-9412-B6AB63D42046}" destId="{84341910-2E84-4097-9192-B8F0EFC27628}" srcOrd="0" destOrd="0" presId="urn:microsoft.com/office/officeart/2005/8/layout/hierarchy2"/>
    <dgm:cxn modelId="{C36A456D-98EA-45E6-B7B3-A20682663998}" type="presParOf" srcId="{309678A7-FF62-405F-9412-B6AB63D42046}" destId="{7EE9290A-963D-4E97-A091-3B992D5EA0E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22D8B7-5160-4416-82B6-98EDA071CE18}" type="doc">
      <dgm:prSet loTypeId="urn:microsoft.com/office/officeart/2024/layout/NumberedTitleCar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40DDC3-3DC5-412D-859C-2454E88CF63B}">
      <dgm:prSet phldrT="[Text]" phldr="0"/>
      <dgm:spPr/>
      <dgm:t>
        <a:bodyPr/>
        <a:lstStyle/>
        <a:p>
          <a:endParaRPr lang="en-US" dirty="0"/>
        </a:p>
      </dgm:t>
    </dgm:pt>
    <dgm:pt modelId="{995B625B-FF83-4783-ABAB-4D9731D37394}" type="sibTrans" cxnId="{04BA6954-810E-4FB9-9F94-BD4C6F7E7AE5}">
      <dgm:prSet phldrT="01" phldr="0" custT="1"/>
      <dgm:spPr/>
      <dgm:t>
        <a:bodyPr/>
        <a:lstStyle/>
        <a:p>
          <a:pPr algn="ctr"/>
          <a:r>
            <a:rPr lang="en-US" sz="2400" b="1" dirty="0"/>
            <a:t>Revenue</a:t>
          </a:r>
        </a:p>
        <a:p>
          <a:pPr algn="l"/>
          <a:r>
            <a:rPr lang="en-US" sz="2100" dirty="0"/>
            <a:t>  (Critical value=0.13309)</a:t>
          </a:r>
        </a:p>
      </dgm:t>
    </dgm:pt>
    <dgm:pt modelId="{EA4EE974-308B-4A3F-A632-77529662A3E0}" type="parTrans" cxnId="{04BA6954-810E-4FB9-9F94-BD4C6F7E7AE5}">
      <dgm:prSet/>
      <dgm:spPr/>
      <dgm:t>
        <a:bodyPr/>
        <a:lstStyle/>
        <a:p>
          <a:endParaRPr lang="en-US"/>
        </a:p>
      </dgm:t>
    </dgm:pt>
    <dgm:pt modelId="{E81440E3-AFFE-4BA8-9424-DABA7FD553EB}">
      <dgm:prSet phldrT="[Text]" phldr="0"/>
      <dgm:spPr/>
      <dgm:t>
        <a:bodyPr/>
        <a:lstStyle/>
        <a:p>
          <a:endParaRPr lang="en-US" dirty="0"/>
        </a:p>
      </dgm:t>
    </dgm:pt>
    <dgm:pt modelId="{B4EF3D0F-85F8-45E4-A7E2-AEB6DC44F4CB}" type="parTrans" cxnId="{A90EDD6F-4D71-47CF-91BA-0833D8F96930}">
      <dgm:prSet/>
      <dgm:spPr/>
      <dgm:t>
        <a:bodyPr/>
        <a:lstStyle/>
        <a:p>
          <a:endParaRPr lang="en-US"/>
        </a:p>
      </dgm:t>
    </dgm:pt>
    <dgm:pt modelId="{A23ED992-F164-458E-9134-DE1AA6E58CCE}" type="sibTrans" cxnId="{A90EDD6F-4D71-47CF-91BA-0833D8F96930}">
      <dgm:prSet phldrT="02" phldr="0" custT="1"/>
      <dgm:spPr/>
      <dgm:t>
        <a:bodyPr/>
        <a:lstStyle/>
        <a:p>
          <a:pPr algn="ctr"/>
          <a:r>
            <a:rPr lang="en-US" sz="2400" b="1" dirty="0"/>
            <a:t>Total Funding</a:t>
          </a:r>
        </a:p>
        <a:p>
          <a:pPr algn="l"/>
          <a:r>
            <a:rPr lang="en-US" sz="2100" dirty="0"/>
            <a:t>  (Critical value=0.16615)</a:t>
          </a:r>
        </a:p>
      </dgm:t>
    </dgm:pt>
    <dgm:pt modelId="{FFEBC1AA-9B42-47F5-A46A-B41299436C45}" type="pres">
      <dgm:prSet presAssocID="{D922D8B7-5160-4416-82B6-98EDA071CE18}" presName="Name0" presStyleCnt="0">
        <dgm:presLayoutVars>
          <dgm:dir/>
          <dgm:animLvl val="lvl"/>
          <dgm:resizeHandles val="exact"/>
        </dgm:presLayoutVars>
      </dgm:prSet>
      <dgm:spPr/>
    </dgm:pt>
    <dgm:pt modelId="{C23CF6C2-97C0-42AB-8DC7-DA52133B632A}" type="pres">
      <dgm:prSet presAssocID="{3540DDC3-3DC5-412D-859C-2454E88CF63B}" presName="compositeNode" presStyleCnt="0">
        <dgm:presLayoutVars>
          <dgm:bulletEnabled val="1"/>
        </dgm:presLayoutVars>
      </dgm:prSet>
      <dgm:spPr/>
    </dgm:pt>
    <dgm:pt modelId="{429FB613-4F2A-4B06-A818-79667936D02C}" type="pres">
      <dgm:prSet presAssocID="{3540DDC3-3DC5-412D-859C-2454E88CF63B}" presName="bgRect" presStyleLbl="fgAcc1" presStyleIdx="0" presStyleCnt="2"/>
      <dgm:spPr/>
    </dgm:pt>
    <dgm:pt modelId="{022CFFDC-1E82-4546-8493-686936159B5A}" type="pres">
      <dgm:prSet presAssocID="{995B625B-FF83-4783-ABAB-4D9731D37394}" presName="sibTransNodeRect" presStyleLbl="bgShp" presStyleIdx="0" presStyleCnt="0" custScaleY="68301" custLinFactNeighborX="-915" custLinFactNeighborY="2393">
        <dgm:presLayoutVars>
          <dgm:chMax val="0"/>
          <dgm:bulletEnabled/>
        </dgm:presLayoutVars>
      </dgm:prSet>
      <dgm:spPr/>
    </dgm:pt>
    <dgm:pt modelId="{69DA1F38-7B5B-4CAD-8EC6-37FF7D3E8664}" type="pres">
      <dgm:prSet presAssocID="{3540DDC3-3DC5-412D-859C-2454E88CF63B}" presName="nodeRect" presStyleLbl="parChTrans1D1" presStyleIdx="0" presStyleCnt="0">
        <dgm:presLayoutVars>
          <dgm:bulletEnabled val="1"/>
        </dgm:presLayoutVars>
      </dgm:prSet>
      <dgm:spPr/>
    </dgm:pt>
    <dgm:pt modelId="{37AF3A02-C33A-4332-9C21-EADD8568D908}" type="pres">
      <dgm:prSet presAssocID="{995B625B-FF83-4783-ABAB-4D9731D37394}" presName="sibTrans" presStyleCnt="0"/>
      <dgm:spPr/>
    </dgm:pt>
    <dgm:pt modelId="{F273CB67-30A2-4C38-AD12-78A9CF399E30}" type="pres">
      <dgm:prSet presAssocID="{E81440E3-AFFE-4BA8-9424-DABA7FD553EB}" presName="compositeNode" presStyleCnt="0">
        <dgm:presLayoutVars>
          <dgm:bulletEnabled val="1"/>
        </dgm:presLayoutVars>
      </dgm:prSet>
      <dgm:spPr/>
    </dgm:pt>
    <dgm:pt modelId="{43233648-8875-4202-AFC5-0671DB6C28A4}" type="pres">
      <dgm:prSet presAssocID="{E81440E3-AFFE-4BA8-9424-DABA7FD553EB}" presName="bgRect" presStyleLbl="fgAcc1" presStyleIdx="1" presStyleCnt="2"/>
      <dgm:spPr/>
    </dgm:pt>
    <dgm:pt modelId="{0C2F4379-91DF-4780-AAB0-4B164679285B}" type="pres">
      <dgm:prSet presAssocID="{A23ED992-F164-458E-9134-DE1AA6E58CCE}" presName="sibTransNodeRect" presStyleLbl="bgShp" presStyleIdx="0" presStyleCnt="0" custScaleY="56243" custLinFactNeighborX="970" custLinFactNeighborY="3056">
        <dgm:presLayoutVars>
          <dgm:chMax val="0"/>
          <dgm:bulletEnabled/>
        </dgm:presLayoutVars>
      </dgm:prSet>
      <dgm:spPr/>
    </dgm:pt>
    <dgm:pt modelId="{78F3F6CD-4FEC-4C41-9BDC-2964A1B98839}" type="pres">
      <dgm:prSet presAssocID="{E81440E3-AFFE-4BA8-9424-DABA7FD553EB}" presName="nodeRect" presStyleLbl="parChTrans1D1" presStyleIdx="0" presStyleCnt="0">
        <dgm:presLayoutVars>
          <dgm:bulletEnabled val="1"/>
        </dgm:presLayoutVars>
      </dgm:prSet>
      <dgm:spPr/>
    </dgm:pt>
  </dgm:ptLst>
  <dgm:cxnLst>
    <dgm:cxn modelId="{5E2EAE10-0D4C-4324-AEBC-17979C6A52F3}" type="presOf" srcId="{995B625B-FF83-4783-ABAB-4D9731D37394}" destId="{022CFFDC-1E82-4546-8493-686936159B5A}" srcOrd="0" destOrd="0" presId="urn:microsoft.com/office/officeart/2024/layout/NumberedTitleCardList"/>
    <dgm:cxn modelId="{29F27037-E4F3-4F7C-8390-560BC103B99E}" type="presOf" srcId="{3540DDC3-3DC5-412D-859C-2454E88CF63B}" destId="{429FB613-4F2A-4B06-A818-79667936D02C}" srcOrd="0" destOrd="0" presId="urn:microsoft.com/office/officeart/2024/layout/NumberedTitleCardList"/>
    <dgm:cxn modelId="{7723803C-FA72-4D47-849A-0494395D0BA1}" type="presOf" srcId="{D922D8B7-5160-4416-82B6-98EDA071CE18}" destId="{FFEBC1AA-9B42-47F5-A46A-B41299436C45}" srcOrd="0" destOrd="0" presId="urn:microsoft.com/office/officeart/2024/layout/NumberedTitleCardList"/>
    <dgm:cxn modelId="{A90EDD6F-4D71-47CF-91BA-0833D8F96930}" srcId="{D922D8B7-5160-4416-82B6-98EDA071CE18}" destId="{E81440E3-AFFE-4BA8-9424-DABA7FD553EB}" srcOrd="1" destOrd="0" parTransId="{B4EF3D0F-85F8-45E4-A7E2-AEB6DC44F4CB}" sibTransId="{A23ED992-F164-458E-9134-DE1AA6E58CCE}"/>
    <dgm:cxn modelId="{04BA6954-810E-4FB9-9F94-BD4C6F7E7AE5}" srcId="{D922D8B7-5160-4416-82B6-98EDA071CE18}" destId="{3540DDC3-3DC5-412D-859C-2454E88CF63B}" srcOrd="0" destOrd="0" parTransId="{EA4EE974-308B-4A3F-A632-77529662A3E0}" sibTransId="{995B625B-FF83-4783-ABAB-4D9731D37394}"/>
    <dgm:cxn modelId="{5CB98D95-579A-449F-AE9A-D0E36DCCC0DB}" type="presOf" srcId="{E81440E3-AFFE-4BA8-9424-DABA7FD553EB}" destId="{78F3F6CD-4FEC-4C41-9BDC-2964A1B98839}" srcOrd="1" destOrd="0" presId="urn:microsoft.com/office/officeart/2024/layout/NumberedTitleCardList"/>
    <dgm:cxn modelId="{C4FE6E98-1975-442F-89C2-E6F0EC1EC6D8}" type="presOf" srcId="{A23ED992-F164-458E-9134-DE1AA6E58CCE}" destId="{0C2F4379-91DF-4780-AAB0-4B164679285B}" srcOrd="0" destOrd="0" presId="urn:microsoft.com/office/officeart/2024/layout/NumberedTitleCardList"/>
    <dgm:cxn modelId="{162688CC-BA0E-43F5-AB89-2AE48787EFDD}" type="presOf" srcId="{3540DDC3-3DC5-412D-859C-2454E88CF63B}" destId="{69DA1F38-7B5B-4CAD-8EC6-37FF7D3E8664}" srcOrd="1" destOrd="0" presId="urn:microsoft.com/office/officeart/2024/layout/NumberedTitleCardList"/>
    <dgm:cxn modelId="{0739D5E1-081D-4958-B23F-35AE50999082}" type="presOf" srcId="{E81440E3-AFFE-4BA8-9424-DABA7FD553EB}" destId="{43233648-8875-4202-AFC5-0671DB6C28A4}" srcOrd="0" destOrd="0" presId="urn:microsoft.com/office/officeart/2024/layout/NumberedTitleCardList"/>
    <dgm:cxn modelId="{D0B15382-EDB7-4D57-9A11-2BDE4EA890A7}" type="presParOf" srcId="{FFEBC1AA-9B42-47F5-A46A-B41299436C45}" destId="{C23CF6C2-97C0-42AB-8DC7-DA52133B632A}" srcOrd="0" destOrd="0" presId="urn:microsoft.com/office/officeart/2024/layout/NumberedTitleCardList"/>
    <dgm:cxn modelId="{2B3087B7-A87E-4830-8DEF-A7326F0B9EF0}" type="presParOf" srcId="{C23CF6C2-97C0-42AB-8DC7-DA52133B632A}" destId="{429FB613-4F2A-4B06-A818-79667936D02C}" srcOrd="0" destOrd="0" presId="urn:microsoft.com/office/officeart/2024/layout/NumberedTitleCardList"/>
    <dgm:cxn modelId="{83C30499-CDE8-427F-AD1C-FE44FC80544E}" type="presParOf" srcId="{C23CF6C2-97C0-42AB-8DC7-DA52133B632A}" destId="{022CFFDC-1E82-4546-8493-686936159B5A}" srcOrd="1" destOrd="0" presId="urn:microsoft.com/office/officeart/2024/layout/NumberedTitleCardList"/>
    <dgm:cxn modelId="{A9765BBD-B573-4B90-BC70-D75AD0FE10B8}" type="presParOf" srcId="{C23CF6C2-97C0-42AB-8DC7-DA52133B632A}" destId="{69DA1F38-7B5B-4CAD-8EC6-37FF7D3E8664}" srcOrd="2" destOrd="0" presId="urn:microsoft.com/office/officeart/2024/layout/NumberedTitleCardList"/>
    <dgm:cxn modelId="{1BA49F04-D754-4B9E-B2B6-DD4D5F517452}" type="presParOf" srcId="{FFEBC1AA-9B42-47F5-A46A-B41299436C45}" destId="{37AF3A02-C33A-4332-9C21-EADD8568D908}" srcOrd="1" destOrd="0" presId="urn:microsoft.com/office/officeart/2024/layout/NumberedTitleCardList"/>
    <dgm:cxn modelId="{D0A18420-5DE2-4A9C-89DA-F2048E3A4A6F}" type="presParOf" srcId="{FFEBC1AA-9B42-47F5-A46A-B41299436C45}" destId="{F273CB67-30A2-4C38-AD12-78A9CF399E30}" srcOrd="2" destOrd="0" presId="urn:microsoft.com/office/officeart/2024/layout/NumberedTitleCardList"/>
    <dgm:cxn modelId="{034472CB-8CD8-45AF-AD03-D44B9BA18C2B}" type="presParOf" srcId="{F273CB67-30A2-4C38-AD12-78A9CF399E30}" destId="{43233648-8875-4202-AFC5-0671DB6C28A4}" srcOrd="0" destOrd="0" presId="urn:microsoft.com/office/officeart/2024/layout/NumberedTitleCardList"/>
    <dgm:cxn modelId="{328C9A2F-AB38-4748-B316-3EF8A6D48DC0}" type="presParOf" srcId="{F273CB67-30A2-4C38-AD12-78A9CF399E30}" destId="{0C2F4379-91DF-4780-AAB0-4B164679285B}" srcOrd="1" destOrd="0" presId="urn:microsoft.com/office/officeart/2024/layout/NumberedTitleCardList"/>
    <dgm:cxn modelId="{A900EF2E-8943-45EB-9361-45A50FBD6FCF}" type="presParOf" srcId="{F273CB67-30A2-4C38-AD12-78A9CF399E30}" destId="{78F3F6CD-4FEC-4C41-9BDC-2964A1B98839}" srcOrd="2" destOrd="0" presId="urn:microsoft.com/office/officeart/2024/layout/NumberedTitleCar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803783-257C-4BE4-B950-2F58F425A93C}">
      <dsp:nvSpPr>
        <dsp:cNvPr id="0" name=""/>
        <dsp:cNvSpPr/>
      </dsp:nvSpPr>
      <dsp:spPr>
        <a:xfrm>
          <a:off x="2771929" y="1090696"/>
          <a:ext cx="2649645" cy="264964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Variables</a:t>
          </a:r>
        </a:p>
      </dsp:txBody>
      <dsp:txXfrm>
        <a:off x="3159961" y="1478728"/>
        <a:ext cx="1873581" cy="1873581"/>
      </dsp:txXfrm>
    </dsp:sp>
    <dsp:sp modelId="{63744798-ACDC-4335-A395-A93B38A9B883}">
      <dsp:nvSpPr>
        <dsp:cNvPr id="0" name=""/>
        <dsp:cNvSpPr/>
      </dsp:nvSpPr>
      <dsp:spPr>
        <a:xfrm>
          <a:off x="3434340" y="26198"/>
          <a:ext cx="1324822" cy="132482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Size</a:t>
          </a:r>
        </a:p>
      </dsp:txBody>
      <dsp:txXfrm>
        <a:off x="3628356" y="220214"/>
        <a:ext cx="936790" cy="936790"/>
      </dsp:txXfrm>
    </dsp:sp>
    <dsp:sp modelId="{E52EF2C0-BAB1-4249-895D-53719223BF26}">
      <dsp:nvSpPr>
        <dsp:cNvPr id="0" name=""/>
        <dsp:cNvSpPr/>
      </dsp:nvSpPr>
      <dsp:spPr>
        <a:xfrm>
          <a:off x="4544376" y="430219"/>
          <a:ext cx="1324822" cy="132482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Industry</a:t>
          </a:r>
        </a:p>
      </dsp:txBody>
      <dsp:txXfrm>
        <a:off x="4738392" y="624235"/>
        <a:ext cx="936790" cy="936790"/>
      </dsp:txXfrm>
    </dsp:sp>
    <dsp:sp modelId="{A6A2E5AA-D0DB-4224-B47C-A0462C014D32}">
      <dsp:nvSpPr>
        <dsp:cNvPr id="0" name=""/>
        <dsp:cNvSpPr/>
      </dsp:nvSpPr>
      <dsp:spPr>
        <a:xfrm>
          <a:off x="5135014" y="1453233"/>
          <a:ext cx="1324822" cy="132482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City</a:t>
          </a:r>
        </a:p>
      </dsp:txBody>
      <dsp:txXfrm>
        <a:off x="5329030" y="1647249"/>
        <a:ext cx="936790" cy="936790"/>
      </dsp:txXfrm>
    </dsp:sp>
    <dsp:sp modelId="{E70AAAE5-ACB3-4460-9692-54C4855F0C37}">
      <dsp:nvSpPr>
        <dsp:cNvPr id="0" name=""/>
        <dsp:cNvSpPr/>
      </dsp:nvSpPr>
      <dsp:spPr>
        <a:xfrm>
          <a:off x="4929887" y="2616562"/>
          <a:ext cx="1324822" cy="132482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Annual Growth</a:t>
          </a:r>
        </a:p>
      </dsp:txBody>
      <dsp:txXfrm>
        <a:off x="5123903" y="2810578"/>
        <a:ext cx="936790" cy="936790"/>
      </dsp:txXfrm>
    </dsp:sp>
    <dsp:sp modelId="{BD072B6F-3C1B-4CB1-91BC-8EE78BC739AB}">
      <dsp:nvSpPr>
        <dsp:cNvPr id="0" name=""/>
        <dsp:cNvSpPr/>
      </dsp:nvSpPr>
      <dsp:spPr>
        <a:xfrm>
          <a:off x="4024978" y="3375872"/>
          <a:ext cx="1324822" cy="132482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Employee Count</a:t>
          </a:r>
        </a:p>
      </dsp:txBody>
      <dsp:txXfrm>
        <a:off x="4218994" y="3569888"/>
        <a:ext cx="936790" cy="936790"/>
      </dsp:txXfrm>
    </dsp:sp>
    <dsp:sp modelId="{DD9602C7-0776-46EA-824A-DD182D5C4E42}">
      <dsp:nvSpPr>
        <dsp:cNvPr id="0" name=""/>
        <dsp:cNvSpPr/>
      </dsp:nvSpPr>
      <dsp:spPr>
        <a:xfrm>
          <a:off x="2843702" y="3375872"/>
          <a:ext cx="1324822" cy="132482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Funding Rounds</a:t>
          </a:r>
        </a:p>
      </dsp:txBody>
      <dsp:txXfrm>
        <a:off x="3037718" y="3569888"/>
        <a:ext cx="936790" cy="936790"/>
      </dsp:txXfrm>
    </dsp:sp>
    <dsp:sp modelId="{1469BC4F-7166-4226-BEFA-16B2DA33895E}">
      <dsp:nvSpPr>
        <dsp:cNvPr id="0" name=""/>
        <dsp:cNvSpPr/>
      </dsp:nvSpPr>
      <dsp:spPr>
        <a:xfrm>
          <a:off x="1938793" y="2616562"/>
          <a:ext cx="1324822" cy="132482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Total Funding </a:t>
          </a:r>
        </a:p>
      </dsp:txBody>
      <dsp:txXfrm>
        <a:off x="2132809" y="2810578"/>
        <a:ext cx="936790" cy="936790"/>
      </dsp:txXfrm>
    </dsp:sp>
    <dsp:sp modelId="{4DA859C8-3AB9-487A-A6A0-7C58A8475C26}">
      <dsp:nvSpPr>
        <dsp:cNvPr id="0" name=""/>
        <dsp:cNvSpPr/>
      </dsp:nvSpPr>
      <dsp:spPr>
        <a:xfrm>
          <a:off x="1733666" y="1453233"/>
          <a:ext cx="1324822" cy="132482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Revenue</a:t>
          </a:r>
        </a:p>
      </dsp:txBody>
      <dsp:txXfrm>
        <a:off x="1927682" y="1647249"/>
        <a:ext cx="936790" cy="936790"/>
      </dsp:txXfrm>
    </dsp:sp>
    <dsp:sp modelId="{746744B8-A3BB-4527-80D0-9C740F1C44E5}">
      <dsp:nvSpPr>
        <dsp:cNvPr id="0" name=""/>
        <dsp:cNvSpPr/>
      </dsp:nvSpPr>
      <dsp:spPr>
        <a:xfrm>
          <a:off x="2324304" y="430219"/>
          <a:ext cx="1324822" cy="132482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Startup Status</a:t>
          </a:r>
          <a:endParaRPr lang="en-US" sz="1300" kern="1200" dirty="0"/>
        </a:p>
      </dsp:txBody>
      <dsp:txXfrm>
        <a:off x="2518320" y="624235"/>
        <a:ext cx="936790" cy="9367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B72E4E-2959-4561-9DC4-93979A7E5D5D}">
      <dsp:nvSpPr>
        <dsp:cNvPr id="0" name=""/>
        <dsp:cNvSpPr/>
      </dsp:nvSpPr>
      <dsp:spPr>
        <a:xfrm>
          <a:off x="0" y="1322709"/>
          <a:ext cx="2093496" cy="17669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</a:rPr>
            <a:t>Methodology</a:t>
          </a:r>
        </a:p>
      </dsp:txBody>
      <dsp:txXfrm>
        <a:off x="51753" y="1374462"/>
        <a:ext cx="1989990" cy="1663479"/>
      </dsp:txXfrm>
    </dsp:sp>
    <dsp:sp modelId="{A4DC0B7B-5183-45B3-BD85-CF332B391029}">
      <dsp:nvSpPr>
        <dsp:cNvPr id="0" name=""/>
        <dsp:cNvSpPr/>
      </dsp:nvSpPr>
      <dsp:spPr>
        <a:xfrm rot="18701239">
          <a:off x="1908932" y="1784866"/>
          <a:ext cx="1102089" cy="19646"/>
        </a:xfrm>
        <a:custGeom>
          <a:avLst/>
          <a:gdLst/>
          <a:ahLst/>
          <a:cxnLst/>
          <a:rect l="0" t="0" r="0" b="0"/>
          <a:pathLst>
            <a:path>
              <a:moveTo>
                <a:pt x="0" y="9823"/>
              </a:moveTo>
              <a:lnTo>
                <a:pt x="1102089" y="982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tx1"/>
            </a:solidFill>
          </a:endParaRPr>
        </a:p>
      </dsp:txBody>
      <dsp:txXfrm>
        <a:off x="2432424" y="1767137"/>
        <a:ext cx="55104" cy="55104"/>
      </dsp:txXfrm>
    </dsp:sp>
    <dsp:sp modelId="{447D7ACF-02E7-4688-B4E9-7D7E559CC929}">
      <dsp:nvSpPr>
        <dsp:cNvPr id="0" name=""/>
        <dsp:cNvSpPr/>
      </dsp:nvSpPr>
      <dsp:spPr>
        <a:xfrm>
          <a:off x="2826457" y="835799"/>
          <a:ext cx="1338016" cy="10947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Integrated Econometric Methods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2858521" y="867863"/>
        <a:ext cx="1273888" cy="1030629"/>
      </dsp:txXfrm>
    </dsp:sp>
    <dsp:sp modelId="{4806267A-FA0C-4C8C-9FC0-567C281219CC}">
      <dsp:nvSpPr>
        <dsp:cNvPr id="0" name=""/>
        <dsp:cNvSpPr/>
      </dsp:nvSpPr>
      <dsp:spPr>
        <a:xfrm rot="19701369">
          <a:off x="4006527" y="815995"/>
          <a:ext cx="2124739" cy="19646"/>
        </a:xfrm>
        <a:custGeom>
          <a:avLst/>
          <a:gdLst/>
          <a:ahLst/>
          <a:cxnLst/>
          <a:rect l="0" t="0" r="0" b="0"/>
          <a:pathLst>
            <a:path>
              <a:moveTo>
                <a:pt x="0" y="9823"/>
              </a:moveTo>
              <a:lnTo>
                <a:pt x="2124739" y="982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>
            <a:solidFill>
              <a:schemeClr val="tx1"/>
            </a:solidFill>
          </a:endParaRPr>
        </a:p>
      </dsp:txBody>
      <dsp:txXfrm>
        <a:off x="5015778" y="772700"/>
        <a:ext cx="106236" cy="106236"/>
      </dsp:txXfrm>
    </dsp:sp>
    <dsp:sp modelId="{72611116-8376-4581-BF5D-151FF16930D3}">
      <dsp:nvSpPr>
        <dsp:cNvPr id="0" name=""/>
        <dsp:cNvSpPr/>
      </dsp:nvSpPr>
      <dsp:spPr>
        <a:xfrm>
          <a:off x="5973319" y="21906"/>
          <a:ext cx="986214" cy="4931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ANOVA</a:t>
          </a:r>
        </a:p>
      </dsp:txBody>
      <dsp:txXfrm>
        <a:off x="5987762" y="36349"/>
        <a:ext cx="957328" cy="464221"/>
      </dsp:txXfrm>
    </dsp:sp>
    <dsp:sp modelId="{916F8DFE-C446-4547-A1F1-EE033249316A}">
      <dsp:nvSpPr>
        <dsp:cNvPr id="0" name=""/>
        <dsp:cNvSpPr/>
      </dsp:nvSpPr>
      <dsp:spPr>
        <a:xfrm rot="20512754">
          <a:off x="4117276" y="1077379"/>
          <a:ext cx="1903250" cy="19646"/>
        </a:xfrm>
        <a:custGeom>
          <a:avLst/>
          <a:gdLst/>
          <a:ahLst/>
          <a:cxnLst/>
          <a:rect l="0" t="0" r="0" b="0"/>
          <a:pathLst>
            <a:path>
              <a:moveTo>
                <a:pt x="0" y="9823"/>
              </a:moveTo>
              <a:lnTo>
                <a:pt x="1903250" y="982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>
            <a:solidFill>
              <a:schemeClr val="tx1"/>
            </a:solidFill>
          </a:endParaRPr>
        </a:p>
      </dsp:txBody>
      <dsp:txXfrm>
        <a:off x="5021320" y="1039621"/>
        <a:ext cx="95162" cy="95162"/>
      </dsp:txXfrm>
    </dsp:sp>
    <dsp:sp modelId="{875BB4CA-3C75-4BF2-883F-5BF6FD5827E2}">
      <dsp:nvSpPr>
        <dsp:cNvPr id="0" name=""/>
        <dsp:cNvSpPr/>
      </dsp:nvSpPr>
      <dsp:spPr>
        <a:xfrm>
          <a:off x="5973329" y="544673"/>
          <a:ext cx="986214" cy="4931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Independent T-Test</a:t>
          </a:r>
        </a:p>
      </dsp:txBody>
      <dsp:txXfrm>
        <a:off x="5987772" y="559116"/>
        <a:ext cx="957328" cy="464221"/>
      </dsp:txXfrm>
    </dsp:sp>
    <dsp:sp modelId="{76E30FBB-6023-4EEF-B456-7342FE07615D}">
      <dsp:nvSpPr>
        <dsp:cNvPr id="0" name=""/>
        <dsp:cNvSpPr/>
      </dsp:nvSpPr>
      <dsp:spPr>
        <a:xfrm rot="21479203">
          <a:off x="4163915" y="1341561"/>
          <a:ext cx="1809962" cy="19646"/>
        </a:xfrm>
        <a:custGeom>
          <a:avLst/>
          <a:gdLst/>
          <a:ahLst/>
          <a:cxnLst/>
          <a:rect l="0" t="0" r="0" b="0"/>
          <a:pathLst>
            <a:path>
              <a:moveTo>
                <a:pt x="0" y="9823"/>
              </a:moveTo>
              <a:lnTo>
                <a:pt x="1809962" y="982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>
            <a:solidFill>
              <a:schemeClr val="tx1"/>
            </a:solidFill>
          </a:endParaRPr>
        </a:p>
      </dsp:txBody>
      <dsp:txXfrm>
        <a:off x="5023648" y="1306135"/>
        <a:ext cx="90498" cy="90498"/>
      </dsp:txXfrm>
    </dsp:sp>
    <dsp:sp modelId="{AE591BB0-A38B-40EE-8683-8AF4425C2C74}">
      <dsp:nvSpPr>
        <dsp:cNvPr id="0" name=""/>
        <dsp:cNvSpPr/>
      </dsp:nvSpPr>
      <dsp:spPr>
        <a:xfrm>
          <a:off x="5973319" y="1073038"/>
          <a:ext cx="986214" cy="4931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>
              <a:solidFill>
                <a:schemeClr val="tx1"/>
              </a:solidFill>
            </a:rPr>
            <a:t>Linear Regression</a:t>
          </a:r>
          <a:endParaRPr lang="en-US" sz="1300" kern="1200" dirty="0">
            <a:solidFill>
              <a:schemeClr val="tx1"/>
            </a:solidFill>
          </a:endParaRPr>
        </a:p>
      </dsp:txBody>
      <dsp:txXfrm>
        <a:off x="5987762" y="1087481"/>
        <a:ext cx="957328" cy="464221"/>
      </dsp:txXfrm>
    </dsp:sp>
    <dsp:sp modelId="{F4547B07-2007-4D70-A612-AF25BF88A039}">
      <dsp:nvSpPr>
        <dsp:cNvPr id="0" name=""/>
        <dsp:cNvSpPr/>
      </dsp:nvSpPr>
      <dsp:spPr>
        <a:xfrm rot="837984">
          <a:off x="4136922" y="1598290"/>
          <a:ext cx="1863958" cy="19646"/>
        </a:xfrm>
        <a:custGeom>
          <a:avLst/>
          <a:gdLst/>
          <a:ahLst/>
          <a:cxnLst/>
          <a:rect l="0" t="0" r="0" b="0"/>
          <a:pathLst>
            <a:path>
              <a:moveTo>
                <a:pt x="0" y="9823"/>
              </a:moveTo>
              <a:lnTo>
                <a:pt x="1863958" y="982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>
            <a:solidFill>
              <a:schemeClr val="tx1"/>
            </a:solidFill>
          </a:endParaRPr>
        </a:p>
      </dsp:txBody>
      <dsp:txXfrm>
        <a:off x="5022303" y="1561514"/>
        <a:ext cx="93197" cy="93197"/>
      </dsp:txXfrm>
    </dsp:sp>
    <dsp:sp modelId="{7B1C6AFB-CA2F-413B-82A2-6B0B972AE6B7}">
      <dsp:nvSpPr>
        <dsp:cNvPr id="0" name=""/>
        <dsp:cNvSpPr/>
      </dsp:nvSpPr>
      <dsp:spPr>
        <a:xfrm>
          <a:off x="5973329" y="1586495"/>
          <a:ext cx="986214" cy="4931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Cox Regression</a:t>
          </a:r>
        </a:p>
      </dsp:txBody>
      <dsp:txXfrm>
        <a:off x="5987772" y="1600938"/>
        <a:ext cx="957328" cy="464221"/>
      </dsp:txXfrm>
    </dsp:sp>
    <dsp:sp modelId="{2EB0BB37-5C07-4DB7-B539-7CE2E8AB5580}">
      <dsp:nvSpPr>
        <dsp:cNvPr id="0" name=""/>
        <dsp:cNvSpPr/>
      </dsp:nvSpPr>
      <dsp:spPr>
        <a:xfrm rot="1658622">
          <a:off x="4046813" y="1851597"/>
          <a:ext cx="2061515" cy="19646"/>
        </a:xfrm>
        <a:custGeom>
          <a:avLst/>
          <a:gdLst/>
          <a:ahLst/>
          <a:cxnLst/>
          <a:rect l="0" t="0" r="0" b="0"/>
          <a:pathLst>
            <a:path>
              <a:moveTo>
                <a:pt x="0" y="9823"/>
              </a:moveTo>
              <a:lnTo>
                <a:pt x="2061515" y="982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>
            <a:solidFill>
              <a:schemeClr val="tx1"/>
            </a:solidFill>
          </a:endParaRPr>
        </a:p>
      </dsp:txBody>
      <dsp:txXfrm>
        <a:off x="5026033" y="1809882"/>
        <a:ext cx="103075" cy="103075"/>
      </dsp:txXfrm>
    </dsp:sp>
    <dsp:sp modelId="{9E329899-E579-4046-A07D-CF40F1AB4F55}">
      <dsp:nvSpPr>
        <dsp:cNvPr id="0" name=""/>
        <dsp:cNvSpPr/>
      </dsp:nvSpPr>
      <dsp:spPr>
        <a:xfrm>
          <a:off x="5990667" y="2093109"/>
          <a:ext cx="986214" cy="4931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>
              <a:solidFill>
                <a:schemeClr val="tx1"/>
              </a:solidFill>
            </a:rPr>
            <a:t>Kaplan-Meier</a:t>
          </a:r>
          <a:endParaRPr lang="en-US" sz="1300" kern="1200" dirty="0">
            <a:solidFill>
              <a:schemeClr val="tx1"/>
            </a:solidFill>
          </a:endParaRPr>
        </a:p>
      </dsp:txBody>
      <dsp:txXfrm>
        <a:off x="6005110" y="2107552"/>
        <a:ext cx="957328" cy="464221"/>
      </dsp:txXfrm>
    </dsp:sp>
    <dsp:sp modelId="{76B2934D-10F6-4A82-BB41-81B7F69ED622}">
      <dsp:nvSpPr>
        <dsp:cNvPr id="0" name=""/>
        <dsp:cNvSpPr/>
      </dsp:nvSpPr>
      <dsp:spPr>
        <a:xfrm rot="3523269">
          <a:off x="1805825" y="2707735"/>
          <a:ext cx="1196644" cy="19646"/>
        </a:xfrm>
        <a:custGeom>
          <a:avLst/>
          <a:gdLst/>
          <a:ahLst/>
          <a:cxnLst/>
          <a:rect l="0" t="0" r="0" b="0"/>
          <a:pathLst>
            <a:path>
              <a:moveTo>
                <a:pt x="0" y="9823"/>
              </a:moveTo>
              <a:lnTo>
                <a:pt x="1196644" y="982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tx1"/>
            </a:solidFill>
          </a:endParaRPr>
        </a:p>
      </dsp:txBody>
      <dsp:txXfrm>
        <a:off x="2374231" y="2687642"/>
        <a:ext cx="59832" cy="59832"/>
      </dsp:txXfrm>
    </dsp:sp>
    <dsp:sp modelId="{296EBE77-0AFE-4F33-8EF3-A0952D8D607B}">
      <dsp:nvSpPr>
        <dsp:cNvPr id="0" name=""/>
        <dsp:cNvSpPr/>
      </dsp:nvSpPr>
      <dsp:spPr>
        <a:xfrm>
          <a:off x="2714798" y="2667537"/>
          <a:ext cx="1608288" cy="1122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Multidimensional Statistical Methods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2747682" y="2700421"/>
        <a:ext cx="1542520" cy="1056987"/>
      </dsp:txXfrm>
    </dsp:sp>
    <dsp:sp modelId="{EA0406AA-C496-40CA-85C1-A102F1243B4F}">
      <dsp:nvSpPr>
        <dsp:cNvPr id="0" name=""/>
        <dsp:cNvSpPr/>
      </dsp:nvSpPr>
      <dsp:spPr>
        <a:xfrm rot="21448372">
          <a:off x="4322290" y="3182973"/>
          <a:ext cx="1638324" cy="19646"/>
        </a:xfrm>
        <a:custGeom>
          <a:avLst/>
          <a:gdLst/>
          <a:ahLst/>
          <a:cxnLst/>
          <a:rect l="0" t="0" r="0" b="0"/>
          <a:pathLst>
            <a:path>
              <a:moveTo>
                <a:pt x="0" y="9823"/>
              </a:moveTo>
              <a:lnTo>
                <a:pt x="1638324" y="982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>
            <a:solidFill>
              <a:schemeClr val="tx1"/>
            </a:solidFill>
          </a:endParaRPr>
        </a:p>
      </dsp:txBody>
      <dsp:txXfrm>
        <a:off x="5100494" y="3151838"/>
        <a:ext cx="81916" cy="81916"/>
      </dsp:txXfrm>
    </dsp:sp>
    <dsp:sp modelId="{26133CB1-99A8-47D9-8C0C-9C2043ECC181}">
      <dsp:nvSpPr>
        <dsp:cNvPr id="0" name=""/>
        <dsp:cNvSpPr/>
      </dsp:nvSpPr>
      <dsp:spPr>
        <a:xfrm>
          <a:off x="5959818" y="2910123"/>
          <a:ext cx="986214" cy="4931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>
              <a:solidFill>
                <a:schemeClr val="tx1"/>
              </a:solidFill>
            </a:rPr>
            <a:t>MANOVA</a:t>
          </a:r>
          <a:endParaRPr lang="en-US" sz="1300" kern="1200" dirty="0">
            <a:solidFill>
              <a:schemeClr val="tx1"/>
            </a:solidFill>
          </a:endParaRPr>
        </a:p>
      </dsp:txBody>
      <dsp:txXfrm>
        <a:off x="5974261" y="2924566"/>
        <a:ext cx="957328" cy="464221"/>
      </dsp:txXfrm>
    </dsp:sp>
    <dsp:sp modelId="{93D52507-7690-4FAE-B2B3-62B71A8F8F47}">
      <dsp:nvSpPr>
        <dsp:cNvPr id="0" name=""/>
        <dsp:cNvSpPr/>
      </dsp:nvSpPr>
      <dsp:spPr>
        <a:xfrm rot="865228">
          <a:off x="4296465" y="3429524"/>
          <a:ext cx="1689975" cy="19646"/>
        </a:xfrm>
        <a:custGeom>
          <a:avLst/>
          <a:gdLst/>
          <a:ahLst/>
          <a:cxnLst/>
          <a:rect l="0" t="0" r="0" b="0"/>
          <a:pathLst>
            <a:path>
              <a:moveTo>
                <a:pt x="0" y="9823"/>
              </a:moveTo>
              <a:lnTo>
                <a:pt x="1689975" y="982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>
            <a:solidFill>
              <a:schemeClr val="tx1"/>
            </a:solidFill>
          </a:endParaRPr>
        </a:p>
      </dsp:txBody>
      <dsp:txXfrm>
        <a:off x="5099203" y="3397098"/>
        <a:ext cx="84498" cy="84498"/>
      </dsp:txXfrm>
    </dsp:sp>
    <dsp:sp modelId="{95094FED-5828-410C-8F18-F943973B2FAE}">
      <dsp:nvSpPr>
        <dsp:cNvPr id="0" name=""/>
        <dsp:cNvSpPr/>
      </dsp:nvSpPr>
      <dsp:spPr>
        <a:xfrm>
          <a:off x="5959818" y="3403226"/>
          <a:ext cx="986214" cy="4931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>
              <a:solidFill>
                <a:schemeClr val="tx1"/>
              </a:solidFill>
            </a:rPr>
            <a:t>K-Means Cluster</a:t>
          </a:r>
          <a:endParaRPr lang="en-US" sz="1300" kern="1200" dirty="0">
            <a:solidFill>
              <a:schemeClr val="tx1"/>
            </a:solidFill>
          </a:endParaRPr>
        </a:p>
      </dsp:txBody>
      <dsp:txXfrm>
        <a:off x="5974261" y="3417669"/>
        <a:ext cx="957328" cy="464221"/>
      </dsp:txXfrm>
    </dsp:sp>
    <dsp:sp modelId="{BA333E01-93B7-4E18-88DF-2943AC372942}">
      <dsp:nvSpPr>
        <dsp:cNvPr id="0" name=""/>
        <dsp:cNvSpPr/>
      </dsp:nvSpPr>
      <dsp:spPr>
        <a:xfrm rot="1799987">
          <a:off x="4196638" y="3691008"/>
          <a:ext cx="1887675" cy="19646"/>
        </a:xfrm>
        <a:custGeom>
          <a:avLst/>
          <a:gdLst/>
          <a:ahLst/>
          <a:cxnLst/>
          <a:rect l="0" t="0" r="0" b="0"/>
          <a:pathLst>
            <a:path>
              <a:moveTo>
                <a:pt x="0" y="9823"/>
              </a:moveTo>
              <a:lnTo>
                <a:pt x="1887675" y="982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>
            <a:solidFill>
              <a:schemeClr val="tx1"/>
            </a:solidFill>
          </a:endParaRPr>
        </a:p>
      </dsp:txBody>
      <dsp:txXfrm>
        <a:off x="5093284" y="3653639"/>
        <a:ext cx="94383" cy="94383"/>
      </dsp:txXfrm>
    </dsp:sp>
    <dsp:sp modelId="{84341910-2E84-4097-9192-B8F0EFC27628}">
      <dsp:nvSpPr>
        <dsp:cNvPr id="0" name=""/>
        <dsp:cNvSpPr/>
      </dsp:nvSpPr>
      <dsp:spPr>
        <a:xfrm>
          <a:off x="5957865" y="3903202"/>
          <a:ext cx="986214" cy="5390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Easy Fit</a:t>
          </a:r>
        </a:p>
      </dsp:txBody>
      <dsp:txXfrm>
        <a:off x="5973654" y="3918991"/>
        <a:ext cx="954636" cy="5075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9FB613-4F2A-4B06-A818-79667936D02C}">
      <dsp:nvSpPr>
        <dsp:cNvPr id="0" name=""/>
        <dsp:cNvSpPr/>
      </dsp:nvSpPr>
      <dsp:spPr>
        <a:xfrm>
          <a:off x="2364" y="0"/>
          <a:ext cx="3635158" cy="27071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40" tIns="0" rIns="6412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 dirty="0"/>
        </a:p>
      </dsp:txBody>
      <dsp:txXfrm>
        <a:off x="2364" y="1082841"/>
        <a:ext cx="3635158" cy="1624263"/>
      </dsp:txXfrm>
    </dsp:sp>
    <dsp:sp modelId="{022CFFDC-1E82-4546-8493-686936159B5A}">
      <dsp:nvSpPr>
        <dsp:cNvPr id="0" name=""/>
        <dsp:cNvSpPr/>
      </dsp:nvSpPr>
      <dsp:spPr>
        <a:xfrm>
          <a:off x="0" y="197537"/>
          <a:ext cx="3635158" cy="73959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40" tIns="165100" rIns="64120" bIns="1651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Revenue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  (Critical value=0.13309)</a:t>
          </a:r>
        </a:p>
      </dsp:txBody>
      <dsp:txXfrm>
        <a:off x="0" y="197537"/>
        <a:ext cx="3635158" cy="739591"/>
      </dsp:txXfrm>
    </dsp:sp>
    <dsp:sp modelId="{43233648-8875-4202-AFC5-0671DB6C28A4}">
      <dsp:nvSpPr>
        <dsp:cNvPr id="0" name=""/>
        <dsp:cNvSpPr/>
      </dsp:nvSpPr>
      <dsp:spPr>
        <a:xfrm>
          <a:off x="3928335" y="0"/>
          <a:ext cx="3635158" cy="27071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40" tIns="0" rIns="6412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 dirty="0"/>
        </a:p>
      </dsp:txBody>
      <dsp:txXfrm>
        <a:off x="3928335" y="1082841"/>
        <a:ext cx="3635158" cy="1624263"/>
      </dsp:txXfrm>
    </dsp:sp>
    <dsp:sp modelId="{0C2F4379-91DF-4780-AAB0-4B164679285B}">
      <dsp:nvSpPr>
        <dsp:cNvPr id="0" name=""/>
        <dsp:cNvSpPr/>
      </dsp:nvSpPr>
      <dsp:spPr>
        <a:xfrm>
          <a:off x="3930699" y="270001"/>
          <a:ext cx="3635158" cy="60902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40" tIns="165100" rIns="64120" bIns="1651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Total Funding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  (Critical value=0.16615)</a:t>
          </a:r>
        </a:p>
      </dsp:txBody>
      <dsp:txXfrm>
        <a:off x="3930699" y="270001"/>
        <a:ext cx="3635158" cy="6090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layout/NumberedTitleCardList">
  <dgm:title val=""/>
  <dgm:desc val=""/>
  <dgm:catLst>
    <dgm:cat type="list" pri="8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4">
          <dgm:prSet phldrT="0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0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0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bgShp">
            <dgm:varLst>
              <dgm:chMax val="0"/>
              <dgm:bulletEnabled/>
            </dgm:varLst>
            <dgm:presOf axis="self" ptType="sibTrans"/>
            <dgm:choose name="numAlignDir">
              <dgm:if name="numAlignNorm" func="var" arg="dir" op="equ" val="norm">
                <dgm:alg type="tx">
                  <dgm:param type="parTxLTRAlign" val="l"/>
                  <dgm:param type="parTxRTLAlign" val="l"/>
                </dgm:alg>
              </dgm:if>
              <dgm:else name="numAlignRev">
                <dgm:alg type="tx">
                  <dgm:param type="parTxLTRAlign" val="r"/>
                  <dgm:param type="parTxRTLAlign" val="r"/>
                </dgm:alg>
              </dgm:else>
            </dgm:choose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1"/>
              <dgm:constr type="rMarg" refType="w" fact="0.05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parChTrans1D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1"/>
            <dgm:constr type="rMarg" refType="w" fact="0.0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g3146cb5cc3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54" name="Google Shape;2054;g3146cb5cc3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3146cb5cc3e_0_6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83" name="Google Shape;2083;g3146cb5cc3e_0_6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3146cb5cc3e_0_159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36" name="Google Shape;2236;g3146cb5cc3e_0_159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>
          <a:extLst>
            <a:ext uri="{FF2B5EF4-FFF2-40B4-BE49-F238E27FC236}">
              <a16:creationId xmlns:a16="http://schemas.microsoft.com/office/drawing/2014/main" id="{72829A85-6720-50A4-F608-FC10D1F80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3146cb5cc3e_0_15905:notes">
            <a:extLst>
              <a:ext uri="{FF2B5EF4-FFF2-40B4-BE49-F238E27FC236}">
                <a16:creationId xmlns:a16="http://schemas.microsoft.com/office/drawing/2014/main" id="{AAD6B8D1-2A8D-1512-D73D-E87C6F93BD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36" name="Google Shape;2236;g3146cb5cc3e_0_15905:notes">
            <a:extLst>
              <a:ext uri="{FF2B5EF4-FFF2-40B4-BE49-F238E27FC236}">
                <a16:creationId xmlns:a16="http://schemas.microsoft.com/office/drawing/2014/main" id="{D418A31E-709B-DCDA-D30C-5318A1F267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29788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603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>
          <a:extLst>
            <a:ext uri="{FF2B5EF4-FFF2-40B4-BE49-F238E27FC236}">
              <a16:creationId xmlns:a16="http://schemas.microsoft.com/office/drawing/2014/main" id="{6B1F060D-AF6C-0454-ABAC-6DE6FBFD9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3146cb5cc3e_0_15905:notes">
            <a:extLst>
              <a:ext uri="{FF2B5EF4-FFF2-40B4-BE49-F238E27FC236}">
                <a16:creationId xmlns:a16="http://schemas.microsoft.com/office/drawing/2014/main" id="{5DC75EDB-5BA7-6E39-2FE3-D14097509F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36" name="Google Shape;2236;g3146cb5cc3e_0_15905:notes">
            <a:extLst>
              <a:ext uri="{FF2B5EF4-FFF2-40B4-BE49-F238E27FC236}">
                <a16:creationId xmlns:a16="http://schemas.microsoft.com/office/drawing/2014/main" id="{6C9DC9CA-53CC-F565-DF99-9184F8EF8C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35728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3146cb5cc3e_0_28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74" name="Google Shape;2074;g3146cb5cc3e_0_28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3146cb5cc3e_0_25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8" name="Google Shape;2298;g3146cb5cc3e_0_25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6">
          <a:extLst>
            <a:ext uri="{FF2B5EF4-FFF2-40B4-BE49-F238E27FC236}">
              <a16:creationId xmlns:a16="http://schemas.microsoft.com/office/drawing/2014/main" id="{34EC9DB5-9438-B42B-EB65-C881BFB1A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3146cb5cc3e_0_25281:notes">
            <a:extLst>
              <a:ext uri="{FF2B5EF4-FFF2-40B4-BE49-F238E27FC236}">
                <a16:creationId xmlns:a16="http://schemas.microsoft.com/office/drawing/2014/main" id="{D830F185-E5D7-BB20-C95F-A7899620DF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8" name="Google Shape;2298;g3146cb5cc3e_0_25281:notes">
            <a:extLst>
              <a:ext uri="{FF2B5EF4-FFF2-40B4-BE49-F238E27FC236}">
                <a16:creationId xmlns:a16="http://schemas.microsoft.com/office/drawing/2014/main" id="{B2A38030-A5A4-E4C3-29F6-917D0B33B7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57837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6">
          <a:extLst>
            <a:ext uri="{FF2B5EF4-FFF2-40B4-BE49-F238E27FC236}">
              <a16:creationId xmlns:a16="http://schemas.microsoft.com/office/drawing/2014/main" id="{E654862F-E856-0D45-3F83-64403007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3146cb5cc3e_0_25281:notes">
            <a:extLst>
              <a:ext uri="{FF2B5EF4-FFF2-40B4-BE49-F238E27FC236}">
                <a16:creationId xmlns:a16="http://schemas.microsoft.com/office/drawing/2014/main" id="{116E8832-154D-E386-8C36-6A80B866B6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8" name="Google Shape;2298;g3146cb5cc3e_0_25281:notes">
            <a:extLst>
              <a:ext uri="{FF2B5EF4-FFF2-40B4-BE49-F238E27FC236}">
                <a16:creationId xmlns:a16="http://schemas.microsoft.com/office/drawing/2014/main" id="{B949DD98-B98B-B447-5130-A64A476579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70020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6">
          <a:extLst>
            <a:ext uri="{FF2B5EF4-FFF2-40B4-BE49-F238E27FC236}">
              <a16:creationId xmlns:a16="http://schemas.microsoft.com/office/drawing/2014/main" id="{8ACD66AC-AABB-043B-FA96-C6DFC298B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3146cb5cc3e_0_25281:notes">
            <a:extLst>
              <a:ext uri="{FF2B5EF4-FFF2-40B4-BE49-F238E27FC236}">
                <a16:creationId xmlns:a16="http://schemas.microsoft.com/office/drawing/2014/main" id="{DBB07FFB-27C7-0AD9-F697-17A735127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8" name="Google Shape;2298;g3146cb5cc3e_0_25281:notes">
            <a:extLst>
              <a:ext uri="{FF2B5EF4-FFF2-40B4-BE49-F238E27FC236}">
                <a16:creationId xmlns:a16="http://schemas.microsoft.com/office/drawing/2014/main" id="{EF2A87AB-CC1B-34DA-C7F4-32B5E8ACDD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0318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6">
          <a:extLst>
            <a:ext uri="{FF2B5EF4-FFF2-40B4-BE49-F238E27FC236}">
              <a16:creationId xmlns:a16="http://schemas.microsoft.com/office/drawing/2014/main" id="{167D6925-F7A4-74A8-E0FA-518464595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3146cb5cc3e_0_25281:notes">
            <a:extLst>
              <a:ext uri="{FF2B5EF4-FFF2-40B4-BE49-F238E27FC236}">
                <a16:creationId xmlns:a16="http://schemas.microsoft.com/office/drawing/2014/main" id="{A50294A2-E6DE-B23D-70DC-C782EE4CC3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8" name="Google Shape;2298;g3146cb5cc3e_0_25281:notes">
            <a:extLst>
              <a:ext uri="{FF2B5EF4-FFF2-40B4-BE49-F238E27FC236}">
                <a16:creationId xmlns:a16="http://schemas.microsoft.com/office/drawing/2014/main" id="{7291E9CA-08C5-628A-A56C-EFF3572B74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92567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6">
          <a:extLst>
            <a:ext uri="{FF2B5EF4-FFF2-40B4-BE49-F238E27FC236}">
              <a16:creationId xmlns:a16="http://schemas.microsoft.com/office/drawing/2014/main" id="{D30B5F23-B14E-15F3-B542-DB9F94F16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3146cb5cc3e_0_25281:notes">
            <a:extLst>
              <a:ext uri="{FF2B5EF4-FFF2-40B4-BE49-F238E27FC236}">
                <a16:creationId xmlns:a16="http://schemas.microsoft.com/office/drawing/2014/main" id="{B7AA173C-1CF7-2282-4798-29BDEA3618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8" name="Google Shape;2298;g3146cb5cc3e_0_25281:notes">
            <a:extLst>
              <a:ext uri="{FF2B5EF4-FFF2-40B4-BE49-F238E27FC236}">
                <a16:creationId xmlns:a16="http://schemas.microsoft.com/office/drawing/2014/main" id="{A164B040-18F5-801D-66F4-401F2CC906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53608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6">
          <a:extLst>
            <a:ext uri="{FF2B5EF4-FFF2-40B4-BE49-F238E27FC236}">
              <a16:creationId xmlns:a16="http://schemas.microsoft.com/office/drawing/2014/main" id="{ADA11AA5-A9CA-D087-9B16-CF04FBDDA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3146cb5cc3e_0_25281:notes">
            <a:extLst>
              <a:ext uri="{FF2B5EF4-FFF2-40B4-BE49-F238E27FC236}">
                <a16:creationId xmlns:a16="http://schemas.microsoft.com/office/drawing/2014/main" id="{BCCA6286-317A-5025-09A5-BC12BC3068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8" name="Google Shape;2298;g3146cb5cc3e_0_25281:notes">
            <a:extLst>
              <a:ext uri="{FF2B5EF4-FFF2-40B4-BE49-F238E27FC236}">
                <a16:creationId xmlns:a16="http://schemas.microsoft.com/office/drawing/2014/main" id="{21456919-693C-EF8F-7683-8A58913AF2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937014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g3146cb5cc3e_0_316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73" name="Google Shape;2373;g3146cb5cc3e_0_316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6">
          <a:extLst>
            <a:ext uri="{FF2B5EF4-FFF2-40B4-BE49-F238E27FC236}">
              <a16:creationId xmlns:a16="http://schemas.microsoft.com/office/drawing/2014/main" id="{3C44EB68-8166-DAEC-1DDC-BA80B9821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3146cb5cc3e_0_25281:notes">
            <a:extLst>
              <a:ext uri="{FF2B5EF4-FFF2-40B4-BE49-F238E27FC236}">
                <a16:creationId xmlns:a16="http://schemas.microsoft.com/office/drawing/2014/main" id="{15007F10-0DB9-0DBB-42E9-1348579A18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8" name="Google Shape;2298;g3146cb5cc3e_0_25281:notes">
            <a:extLst>
              <a:ext uri="{FF2B5EF4-FFF2-40B4-BE49-F238E27FC236}">
                <a16:creationId xmlns:a16="http://schemas.microsoft.com/office/drawing/2014/main" id="{673B1982-DFBB-0E5D-B70D-92D3726CFA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11288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6">
          <a:extLst>
            <a:ext uri="{FF2B5EF4-FFF2-40B4-BE49-F238E27FC236}">
              <a16:creationId xmlns:a16="http://schemas.microsoft.com/office/drawing/2014/main" id="{C9570B6D-7B92-FAAD-CE3C-6914DD11F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3146cb5cc3e_0_25281:notes">
            <a:extLst>
              <a:ext uri="{FF2B5EF4-FFF2-40B4-BE49-F238E27FC236}">
                <a16:creationId xmlns:a16="http://schemas.microsoft.com/office/drawing/2014/main" id="{E0472A00-A443-8AF1-5CAA-444EDCBDC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298" name="Google Shape;2298;g3146cb5cc3e_0_25281:notes">
            <a:extLst>
              <a:ext uri="{FF2B5EF4-FFF2-40B4-BE49-F238E27FC236}">
                <a16:creationId xmlns:a16="http://schemas.microsoft.com/office/drawing/2014/main" id="{8251220C-EC2E-0485-8F5D-DC7D67764F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096389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1">
          <a:extLst>
            <a:ext uri="{FF2B5EF4-FFF2-40B4-BE49-F238E27FC236}">
              <a16:creationId xmlns:a16="http://schemas.microsoft.com/office/drawing/2014/main" id="{CE9C7733-87B5-0BEF-BF21-3FEDF10AB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g3146cb5cc3e_0_31649:notes">
            <a:extLst>
              <a:ext uri="{FF2B5EF4-FFF2-40B4-BE49-F238E27FC236}">
                <a16:creationId xmlns:a16="http://schemas.microsoft.com/office/drawing/2014/main" id="{6C181490-91E3-4CBF-D02B-54CFC8D183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73" name="Google Shape;2373;g3146cb5cc3e_0_31649:notes">
            <a:extLst>
              <a:ext uri="{FF2B5EF4-FFF2-40B4-BE49-F238E27FC236}">
                <a16:creationId xmlns:a16="http://schemas.microsoft.com/office/drawing/2014/main" id="{55A25190-5B1F-2378-8F6E-38133F89D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0058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69225" y="560775"/>
            <a:ext cx="6805500" cy="22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77750" y="3231851"/>
            <a:ext cx="5788500" cy="66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450421" y="-383841"/>
            <a:ext cx="1507871" cy="1510263"/>
            <a:chOff x="39184" y="-151930"/>
            <a:chExt cx="1309825" cy="1311903"/>
          </a:xfrm>
        </p:grpSpPr>
        <p:sp>
          <p:nvSpPr>
            <p:cNvPr id="12" name="Google Shape;12;p2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 flipH="1">
            <a:off x="8057468" y="4108382"/>
            <a:ext cx="1507871" cy="1510263"/>
            <a:chOff x="39184" y="-151930"/>
            <a:chExt cx="1309825" cy="1311903"/>
          </a:xfrm>
        </p:grpSpPr>
        <p:sp>
          <p:nvSpPr>
            <p:cNvPr id="130" name="Google Shape;130;p2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"/>
          <p:cNvSpPr txBox="1">
            <a:spLocks noGrp="1"/>
          </p:cNvSpPr>
          <p:nvPr>
            <p:ph type="subTitle" idx="1"/>
          </p:nvPr>
        </p:nvSpPr>
        <p:spPr>
          <a:xfrm>
            <a:off x="1290750" y="2672122"/>
            <a:ext cx="2907600" cy="4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89" name="Google Shape;389;p5"/>
          <p:cNvSpPr txBox="1">
            <a:spLocks noGrp="1"/>
          </p:cNvSpPr>
          <p:nvPr>
            <p:ph type="subTitle" idx="2"/>
          </p:nvPr>
        </p:nvSpPr>
        <p:spPr>
          <a:xfrm>
            <a:off x="4945625" y="2672122"/>
            <a:ext cx="2907600" cy="4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90" name="Google Shape;390;p5"/>
          <p:cNvSpPr txBox="1">
            <a:spLocks noGrp="1"/>
          </p:cNvSpPr>
          <p:nvPr>
            <p:ph type="subTitle" idx="3"/>
          </p:nvPr>
        </p:nvSpPr>
        <p:spPr>
          <a:xfrm>
            <a:off x="1290750" y="3097824"/>
            <a:ext cx="2907600" cy="11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5"/>
          <p:cNvSpPr txBox="1">
            <a:spLocks noGrp="1"/>
          </p:cNvSpPr>
          <p:nvPr>
            <p:ph type="subTitle" idx="4"/>
          </p:nvPr>
        </p:nvSpPr>
        <p:spPr>
          <a:xfrm>
            <a:off x="4945625" y="3097824"/>
            <a:ext cx="2907600" cy="11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93" name="Google Shape;393;p5"/>
          <p:cNvGrpSpPr/>
          <p:nvPr/>
        </p:nvGrpSpPr>
        <p:grpSpPr>
          <a:xfrm>
            <a:off x="-15990" y="3526515"/>
            <a:ext cx="2300520" cy="2575530"/>
            <a:chOff x="3238240" y="323850"/>
            <a:chExt cx="1739919" cy="1947912"/>
          </a:xfrm>
        </p:grpSpPr>
        <p:sp>
          <p:nvSpPr>
            <p:cNvPr id="394" name="Google Shape;394;p5"/>
            <p:cNvSpPr/>
            <p:nvPr/>
          </p:nvSpPr>
          <p:spPr>
            <a:xfrm>
              <a:off x="3238240" y="323850"/>
              <a:ext cx="1654154" cy="1947912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4036753" y="947738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724015" y="1260475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rgbClr val="F0EBE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4109778" y="1271588"/>
              <a:ext cx="403228" cy="403228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4192328" y="1189038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71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01" name="Google Shape;401;p6"/>
          <p:cNvGrpSpPr/>
          <p:nvPr/>
        </p:nvGrpSpPr>
        <p:grpSpPr>
          <a:xfrm>
            <a:off x="-426172" y="-639686"/>
            <a:ext cx="10263181" cy="6395837"/>
            <a:chOff x="-426172" y="-639686"/>
            <a:chExt cx="10263181" cy="6395837"/>
          </a:xfrm>
        </p:grpSpPr>
        <p:sp>
          <p:nvSpPr>
            <p:cNvPr id="402" name="Google Shape;402;p6"/>
            <p:cNvSpPr/>
            <p:nvPr/>
          </p:nvSpPr>
          <p:spPr>
            <a:xfrm>
              <a:off x="8420420" y="4398962"/>
              <a:ext cx="740961" cy="740961"/>
            </a:xfrm>
            <a:custGeom>
              <a:avLst/>
              <a:gdLst/>
              <a:ahLst/>
              <a:cxnLst/>
              <a:rect l="l" t="t" r="r" b="b"/>
              <a:pathLst>
                <a:path w="16944" h="16944" extrusionOk="0">
                  <a:moveTo>
                    <a:pt x="16944" y="0"/>
                  </a:moveTo>
                  <a:lnTo>
                    <a:pt x="16944" y="16944"/>
                  </a:lnTo>
                  <a:lnTo>
                    <a:pt x="0" y="16944"/>
                  </a:lnTo>
                  <a:lnTo>
                    <a:pt x="0" y="12436"/>
                  </a:lnTo>
                  <a:cubicBezTo>
                    <a:pt x="0" y="5568"/>
                    <a:pt x="5567" y="0"/>
                    <a:pt x="12435" y="0"/>
                  </a:cubicBezTo>
                  <a:lnTo>
                    <a:pt x="16944" y="0"/>
                  </a:lnTo>
                  <a:close/>
                </a:path>
              </a:pathLst>
            </a:custGeom>
            <a:solidFill>
              <a:srgbClr val="4C6A7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3" name="Google Shape;403;p6"/>
            <p:cNvGrpSpPr/>
            <p:nvPr/>
          </p:nvGrpSpPr>
          <p:grpSpPr>
            <a:xfrm>
              <a:off x="-426172" y="4245888"/>
              <a:ext cx="1507871" cy="1510263"/>
              <a:chOff x="39184" y="-151930"/>
              <a:chExt cx="1309825" cy="1311903"/>
            </a:xfrm>
          </p:grpSpPr>
          <p:sp>
            <p:nvSpPr>
              <p:cNvPr id="404" name="Google Shape;404;p6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6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6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6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6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6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6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6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6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6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6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6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6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6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6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6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6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6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6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6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6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6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6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6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6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6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6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6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6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6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6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6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6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6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6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6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6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6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6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6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6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6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6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6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6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6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6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6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6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6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6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6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6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6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6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6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6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6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6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6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6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6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6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6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6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6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6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6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6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6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6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6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6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6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6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6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6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6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6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6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6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6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6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6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6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6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6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6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6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6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6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6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6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6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6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6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6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6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6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6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6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6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6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6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6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6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6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6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6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6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6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6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6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6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6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6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6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1" name="Google Shape;521;p6"/>
            <p:cNvGrpSpPr/>
            <p:nvPr/>
          </p:nvGrpSpPr>
          <p:grpSpPr>
            <a:xfrm flipH="1">
              <a:off x="8329138" y="-639686"/>
              <a:ext cx="1507871" cy="1510263"/>
              <a:chOff x="39184" y="-151930"/>
              <a:chExt cx="1309825" cy="1311903"/>
            </a:xfrm>
          </p:grpSpPr>
          <p:sp>
            <p:nvSpPr>
              <p:cNvPr id="522" name="Google Shape;522;p6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6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6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6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6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6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6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6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6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6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6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6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6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6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6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6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6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6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6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6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6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6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6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6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6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6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6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6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6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6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6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6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6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6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6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6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6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6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6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6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6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6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6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6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6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6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6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6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6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6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6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6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6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6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6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6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6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6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6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6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6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6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6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6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6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6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6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6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6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6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6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6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6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6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6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6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6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6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6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6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6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6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6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6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6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6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6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6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6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6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6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6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6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6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6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6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6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6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6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6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6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6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6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6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6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6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6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6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6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6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6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6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6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6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6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6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6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641" name="Google Shape;641;p7"/>
          <p:cNvSpPr txBox="1">
            <a:spLocks noGrp="1"/>
          </p:cNvSpPr>
          <p:nvPr>
            <p:ph type="body" idx="1"/>
          </p:nvPr>
        </p:nvSpPr>
        <p:spPr>
          <a:xfrm>
            <a:off x="574125" y="1374625"/>
            <a:ext cx="3987300" cy="31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42" name="Google Shape;642;p7"/>
          <p:cNvSpPr>
            <a:spLocks noGrp="1"/>
          </p:cNvSpPr>
          <p:nvPr>
            <p:ph type="pic" idx="2"/>
          </p:nvPr>
        </p:nvSpPr>
        <p:spPr>
          <a:xfrm>
            <a:off x="4976975" y="1374425"/>
            <a:ext cx="3232800" cy="2913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43" name="Google Shape;643;p7"/>
          <p:cNvSpPr/>
          <p:nvPr/>
        </p:nvSpPr>
        <p:spPr>
          <a:xfrm>
            <a:off x="8421714" y="4402286"/>
            <a:ext cx="740961" cy="740961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rgbClr val="4C6A7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4" name="Google Shape;644;p7"/>
          <p:cNvGrpSpPr/>
          <p:nvPr/>
        </p:nvGrpSpPr>
        <p:grpSpPr>
          <a:xfrm flipH="1">
            <a:off x="-132630" y="3762788"/>
            <a:ext cx="1507871" cy="1510263"/>
            <a:chOff x="39184" y="-151930"/>
            <a:chExt cx="1309825" cy="1311903"/>
          </a:xfrm>
        </p:grpSpPr>
        <p:sp>
          <p:nvSpPr>
            <p:cNvPr id="645" name="Google Shape;645;p7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7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7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7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7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7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7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7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7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7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7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7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7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7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7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7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7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7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7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7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7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7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7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7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7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7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7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7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7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7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7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7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7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7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7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7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7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7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7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7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7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7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7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7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"/>
          <p:cNvSpPr txBox="1">
            <a:spLocks noGrp="1"/>
          </p:cNvSpPr>
          <p:nvPr>
            <p:ph type="subTitle" idx="1"/>
          </p:nvPr>
        </p:nvSpPr>
        <p:spPr>
          <a:xfrm>
            <a:off x="720068" y="2912750"/>
            <a:ext cx="3841500" cy="11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66" name="Google Shape;766;p9"/>
          <p:cNvSpPr txBox="1">
            <a:spLocks noGrp="1"/>
          </p:cNvSpPr>
          <p:nvPr>
            <p:ph type="title"/>
          </p:nvPr>
        </p:nvSpPr>
        <p:spPr>
          <a:xfrm>
            <a:off x="720000" y="880850"/>
            <a:ext cx="3841500" cy="203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767" name="Google Shape;767;p9"/>
          <p:cNvGrpSpPr/>
          <p:nvPr/>
        </p:nvGrpSpPr>
        <p:grpSpPr>
          <a:xfrm>
            <a:off x="-684423" y="-1789571"/>
            <a:ext cx="10430491" cy="7512343"/>
            <a:chOff x="-684423" y="-1789571"/>
            <a:chExt cx="10430491" cy="7512343"/>
          </a:xfrm>
        </p:grpSpPr>
        <p:grpSp>
          <p:nvGrpSpPr>
            <p:cNvPr id="768" name="Google Shape;768;p9"/>
            <p:cNvGrpSpPr/>
            <p:nvPr/>
          </p:nvGrpSpPr>
          <p:grpSpPr>
            <a:xfrm>
              <a:off x="7144492" y="3147242"/>
              <a:ext cx="2300520" cy="2575530"/>
              <a:chOff x="3238240" y="323850"/>
              <a:chExt cx="1739919" cy="1947912"/>
            </a:xfrm>
          </p:grpSpPr>
          <p:sp>
            <p:nvSpPr>
              <p:cNvPr id="769" name="Google Shape;769;p9"/>
              <p:cNvSpPr/>
              <p:nvPr/>
            </p:nvSpPr>
            <p:spPr>
              <a:xfrm>
                <a:off x="3238240" y="323850"/>
                <a:ext cx="1654154" cy="1947912"/>
              </a:xfrm>
              <a:custGeom>
                <a:avLst/>
                <a:gdLst/>
                <a:ahLst/>
                <a:cxnLst/>
                <a:rect l="l" t="t" r="r" b="b"/>
                <a:pathLst>
                  <a:path w="50016" h="58876" extrusionOk="0">
                    <a:moveTo>
                      <a:pt x="50016" y="49881"/>
                    </a:moveTo>
                    <a:lnTo>
                      <a:pt x="135" y="0"/>
                    </a:lnTo>
                    <a:lnTo>
                      <a:pt x="0" y="29959"/>
                    </a:lnTo>
                    <a:lnTo>
                      <a:pt x="26668" y="56627"/>
                    </a:lnTo>
                    <a:cubicBezTo>
                      <a:pt x="28107" y="58067"/>
                      <a:pt x="30060" y="58876"/>
                      <a:pt x="32096" y="58876"/>
                    </a:cubicBezTo>
                    <a:lnTo>
                      <a:pt x="49927" y="58876"/>
                    </a:lnTo>
                    <a:lnTo>
                      <a:pt x="50016" y="49881"/>
                    </a:ln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4036753" y="947738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7"/>
                    </a:moveTo>
                    <a:lnTo>
                      <a:pt x="0" y="5307"/>
                    </a:lnTo>
                    <a:cubicBezTo>
                      <a:pt x="5307" y="0"/>
                      <a:pt x="13912" y="0"/>
                      <a:pt x="19219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4" y="19847"/>
                      <a:pt x="14540" y="19847"/>
                      <a:pt x="9232" y="14540"/>
                    </a:cubicBezTo>
                    <a:lnTo>
                      <a:pt x="0" y="5307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3724015" y="1260475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8"/>
                    </a:moveTo>
                    <a:lnTo>
                      <a:pt x="0" y="5308"/>
                    </a:lnTo>
                    <a:cubicBezTo>
                      <a:pt x="5308" y="0"/>
                      <a:pt x="13912" y="0"/>
                      <a:pt x="19220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5" y="19847"/>
                      <a:pt x="14540" y="19847"/>
                      <a:pt x="9233" y="14540"/>
                    </a:cubicBezTo>
                    <a:lnTo>
                      <a:pt x="0" y="5308"/>
                    </a:lnTo>
                    <a:close/>
                  </a:path>
                </a:pathLst>
              </a:custGeom>
              <a:solidFill>
                <a:srgbClr val="F0EBE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4109778" y="1271588"/>
                <a:ext cx="403228" cy="403228"/>
              </a:xfrm>
              <a:custGeom>
                <a:avLst/>
                <a:gdLst/>
                <a:ahLst/>
                <a:cxnLst/>
                <a:rect l="l" t="t" r="r" b="b"/>
                <a:pathLst>
                  <a:path w="12207" h="12207" extrusionOk="0">
                    <a:moveTo>
                      <a:pt x="2664" y="9543"/>
                    </a:moveTo>
                    <a:cubicBezTo>
                      <a:pt x="5293" y="12173"/>
                      <a:pt x="9529" y="12207"/>
                      <a:pt x="12207" y="9655"/>
                    </a:cubicBezTo>
                    <a:lnTo>
                      <a:pt x="2552" y="0"/>
                    </a:lnTo>
                    <a:cubicBezTo>
                      <a:pt x="0" y="2678"/>
                      <a:pt x="34" y="6914"/>
                      <a:pt x="2664" y="9543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4192328" y="1189038"/>
                <a:ext cx="403225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12206" h="12206" extrusionOk="0">
                    <a:moveTo>
                      <a:pt x="9543" y="2663"/>
                    </a:moveTo>
                    <a:cubicBezTo>
                      <a:pt x="6913" y="34"/>
                      <a:pt x="2677" y="0"/>
                      <a:pt x="0" y="2551"/>
                    </a:cubicBezTo>
                    <a:lnTo>
                      <a:pt x="9655" y="12206"/>
                    </a:lnTo>
                    <a:cubicBezTo>
                      <a:pt x="12206" y="9529"/>
                      <a:pt x="12172" y="5293"/>
                      <a:pt x="9543" y="2663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4" name="Google Shape;774;p9"/>
            <p:cNvSpPr/>
            <p:nvPr/>
          </p:nvSpPr>
          <p:spPr>
            <a:xfrm>
              <a:off x="-684423" y="-1789571"/>
              <a:ext cx="2187200" cy="2575531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5" name="Google Shape;775;p9"/>
            <p:cNvGrpSpPr/>
            <p:nvPr/>
          </p:nvGrpSpPr>
          <p:grpSpPr>
            <a:xfrm flipH="1">
              <a:off x="8238198" y="-570847"/>
              <a:ext cx="1507871" cy="1510263"/>
              <a:chOff x="39184" y="-151930"/>
              <a:chExt cx="1309825" cy="1311903"/>
            </a:xfrm>
          </p:grpSpPr>
          <p:sp>
            <p:nvSpPr>
              <p:cNvPr id="776" name="Google Shape;776;p9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9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9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9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9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9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9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9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9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9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9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9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9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9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9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9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9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9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9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9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9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9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9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9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9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9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9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9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9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9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9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9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9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9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9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9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9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9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9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9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9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9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9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9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9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9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9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9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9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9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9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9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9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9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9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9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9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9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9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9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9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9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9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9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9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9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9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9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9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9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9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9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9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9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9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9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9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p9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9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9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9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9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9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9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9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9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9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9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9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9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9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9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9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9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9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9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9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9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9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9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9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9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9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9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9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9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9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9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9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9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9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9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9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9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9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9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9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5" name="Google Shape;895;p10"/>
          <p:cNvSpPr txBox="1">
            <a:spLocks noGrp="1"/>
          </p:cNvSpPr>
          <p:nvPr>
            <p:ph type="title"/>
          </p:nvPr>
        </p:nvSpPr>
        <p:spPr>
          <a:xfrm>
            <a:off x="740550" y="3910025"/>
            <a:ext cx="7662900" cy="69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98" name="Google Shape;898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3"/>
          <p:cNvSpPr txBox="1">
            <a:spLocks noGrp="1"/>
          </p:cNvSpPr>
          <p:nvPr>
            <p:ph type="subTitle" idx="1"/>
          </p:nvPr>
        </p:nvSpPr>
        <p:spPr>
          <a:xfrm>
            <a:off x="1252225" y="2336850"/>
            <a:ext cx="2867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13"/>
          <p:cNvSpPr txBox="1">
            <a:spLocks noGrp="1"/>
          </p:cNvSpPr>
          <p:nvPr>
            <p:ph type="title" idx="2" hasCustomPrompt="1"/>
          </p:nvPr>
        </p:nvSpPr>
        <p:spPr>
          <a:xfrm>
            <a:off x="1282000" y="1967451"/>
            <a:ext cx="731400" cy="39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4" name="Google Shape;904;p13"/>
          <p:cNvSpPr txBox="1">
            <a:spLocks noGrp="1"/>
          </p:cNvSpPr>
          <p:nvPr>
            <p:ph type="subTitle" idx="3"/>
          </p:nvPr>
        </p:nvSpPr>
        <p:spPr>
          <a:xfrm>
            <a:off x="2036325" y="1960502"/>
            <a:ext cx="20835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05" name="Google Shape;905;p13"/>
          <p:cNvSpPr txBox="1">
            <a:spLocks noGrp="1"/>
          </p:cNvSpPr>
          <p:nvPr>
            <p:ph type="subTitle" idx="4"/>
          </p:nvPr>
        </p:nvSpPr>
        <p:spPr>
          <a:xfrm>
            <a:off x="1252225" y="3826800"/>
            <a:ext cx="2867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6" name="Google Shape;906;p13"/>
          <p:cNvSpPr txBox="1">
            <a:spLocks noGrp="1"/>
          </p:cNvSpPr>
          <p:nvPr>
            <p:ph type="title" idx="5" hasCustomPrompt="1"/>
          </p:nvPr>
        </p:nvSpPr>
        <p:spPr>
          <a:xfrm>
            <a:off x="1282000" y="3457401"/>
            <a:ext cx="731400" cy="39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7" name="Google Shape;907;p13"/>
          <p:cNvSpPr txBox="1">
            <a:spLocks noGrp="1"/>
          </p:cNvSpPr>
          <p:nvPr>
            <p:ph type="subTitle" idx="6"/>
          </p:nvPr>
        </p:nvSpPr>
        <p:spPr>
          <a:xfrm>
            <a:off x="2036325" y="3450452"/>
            <a:ext cx="20835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08" name="Google Shape;908;p13"/>
          <p:cNvSpPr txBox="1">
            <a:spLocks noGrp="1"/>
          </p:cNvSpPr>
          <p:nvPr>
            <p:ph type="subTitle" idx="7"/>
          </p:nvPr>
        </p:nvSpPr>
        <p:spPr>
          <a:xfrm>
            <a:off x="5024125" y="2336850"/>
            <a:ext cx="2867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13"/>
          <p:cNvSpPr txBox="1">
            <a:spLocks noGrp="1"/>
          </p:cNvSpPr>
          <p:nvPr>
            <p:ph type="title" idx="8" hasCustomPrompt="1"/>
          </p:nvPr>
        </p:nvSpPr>
        <p:spPr>
          <a:xfrm>
            <a:off x="5053900" y="1967451"/>
            <a:ext cx="731400" cy="39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0" name="Google Shape;910;p13"/>
          <p:cNvSpPr txBox="1">
            <a:spLocks noGrp="1"/>
          </p:cNvSpPr>
          <p:nvPr>
            <p:ph type="subTitle" idx="9"/>
          </p:nvPr>
        </p:nvSpPr>
        <p:spPr>
          <a:xfrm>
            <a:off x="5808225" y="1960502"/>
            <a:ext cx="20835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11" name="Google Shape;911;p13"/>
          <p:cNvSpPr txBox="1">
            <a:spLocks noGrp="1"/>
          </p:cNvSpPr>
          <p:nvPr>
            <p:ph type="subTitle" idx="13"/>
          </p:nvPr>
        </p:nvSpPr>
        <p:spPr>
          <a:xfrm>
            <a:off x="5024125" y="3826800"/>
            <a:ext cx="2867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p13"/>
          <p:cNvSpPr txBox="1">
            <a:spLocks noGrp="1"/>
          </p:cNvSpPr>
          <p:nvPr>
            <p:ph type="title" idx="14" hasCustomPrompt="1"/>
          </p:nvPr>
        </p:nvSpPr>
        <p:spPr>
          <a:xfrm>
            <a:off x="5053900" y="3457401"/>
            <a:ext cx="731400" cy="39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3" name="Google Shape;913;p13"/>
          <p:cNvSpPr txBox="1">
            <a:spLocks noGrp="1"/>
          </p:cNvSpPr>
          <p:nvPr>
            <p:ph type="subTitle" idx="15"/>
          </p:nvPr>
        </p:nvSpPr>
        <p:spPr>
          <a:xfrm>
            <a:off x="5808225" y="3450452"/>
            <a:ext cx="20835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14" name="Google Shape;914;p13"/>
          <p:cNvSpPr/>
          <p:nvPr/>
        </p:nvSpPr>
        <p:spPr>
          <a:xfrm rot="10800000">
            <a:off x="-605110" y="4164122"/>
            <a:ext cx="2187200" cy="2575531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rgbClr val="4C6A7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5" name="Google Shape;915;p13"/>
          <p:cNvGrpSpPr/>
          <p:nvPr/>
        </p:nvGrpSpPr>
        <p:grpSpPr>
          <a:xfrm>
            <a:off x="7891595" y="-388147"/>
            <a:ext cx="1658229" cy="1282495"/>
            <a:chOff x="5136226" y="2246221"/>
            <a:chExt cx="1254144" cy="969970"/>
          </a:xfrm>
        </p:grpSpPr>
        <p:sp>
          <p:nvSpPr>
            <p:cNvPr id="916" name="Google Shape;916;p13"/>
            <p:cNvSpPr/>
            <p:nvPr/>
          </p:nvSpPr>
          <p:spPr>
            <a:xfrm>
              <a:off x="5448964" y="2246221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13"/>
            <p:cNvSpPr/>
            <p:nvPr/>
          </p:nvSpPr>
          <p:spPr>
            <a:xfrm>
              <a:off x="5136226" y="2558958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3"/>
            <p:cNvSpPr/>
            <p:nvPr/>
          </p:nvSpPr>
          <p:spPr>
            <a:xfrm>
              <a:off x="5521989" y="2570071"/>
              <a:ext cx="403228" cy="403228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3"/>
            <p:cNvSpPr/>
            <p:nvPr/>
          </p:nvSpPr>
          <p:spPr>
            <a:xfrm>
              <a:off x="5604539" y="248752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" name="Google Shape;920;p13"/>
          <p:cNvGrpSpPr/>
          <p:nvPr/>
        </p:nvGrpSpPr>
        <p:grpSpPr>
          <a:xfrm>
            <a:off x="-883944" y="2944655"/>
            <a:ext cx="1507871" cy="1510263"/>
            <a:chOff x="39184" y="-151930"/>
            <a:chExt cx="1309825" cy="1311903"/>
          </a:xfrm>
        </p:grpSpPr>
        <p:sp>
          <p:nvSpPr>
            <p:cNvPr id="921" name="Google Shape;921;p13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3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3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3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3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3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13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3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3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3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3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3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3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3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3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3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3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3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3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3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3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3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3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3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3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3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3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13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13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3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3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3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3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3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3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3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3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3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3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3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3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3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3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3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3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3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3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3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">
  <p:cSld name="TITLE_ONLY_2_1"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040" name="Google Shape;1040;p14"/>
          <p:cNvSpPr/>
          <p:nvPr/>
        </p:nvSpPr>
        <p:spPr>
          <a:xfrm>
            <a:off x="8403036" y="4402536"/>
            <a:ext cx="740961" cy="740961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4"/>
          <p:cNvSpPr/>
          <p:nvPr/>
        </p:nvSpPr>
        <p:spPr>
          <a:xfrm>
            <a:off x="-1093603" y="3011591"/>
            <a:ext cx="2187200" cy="2575531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2" name="Google Shape;1042;p14"/>
          <p:cNvGrpSpPr/>
          <p:nvPr/>
        </p:nvGrpSpPr>
        <p:grpSpPr>
          <a:xfrm>
            <a:off x="8335771" y="-708520"/>
            <a:ext cx="1507871" cy="1510263"/>
            <a:chOff x="39184" y="-151930"/>
            <a:chExt cx="1309825" cy="1311903"/>
          </a:xfrm>
        </p:grpSpPr>
        <p:sp>
          <p:nvSpPr>
            <p:cNvPr id="1043" name="Google Shape;1043;p14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4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4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4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4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4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4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4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14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14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4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14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14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4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14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14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4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14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14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4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14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4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4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14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4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4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4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4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4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4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4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14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4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4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4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4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4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4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4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4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4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4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4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4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4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4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4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4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4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4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4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4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4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4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4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SECTION_TITLE_AND_DESCRIPTION_1"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6"/>
          <p:cNvSpPr txBox="1">
            <a:spLocks noGrp="1"/>
          </p:cNvSpPr>
          <p:nvPr>
            <p:ph type="subTitle" idx="1"/>
          </p:nvPr>
        </p:nvSpPr>
        <p:spPr>
          <a:xfrm>
            <a:off x="720100" y="2402075"/>
            <a:ext cx="6145800" cy="15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7" name="Google Shape;1407;p16"/>
          <p:cNvSpPr txBox="1">
            <a:spLocks noGrp="1"/>
          </p:cNvSpPr>
          <p:nvPr>
            <p:ph type="title"/>
          </p:nvPr>
        </p:nvSpPr>
        <p:spPr>
          <a:xfrm>
            <a:off x="720000" y="1051775"/>
            <a:ext cx="6145800" cy="112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408" name="Google Shape;1408;p16"/>
          <p:cNvGrpSpPr/>
          <p:nvPr/>
        </p:nvGrpSpPr>
        <p:grpSpPr>
          <a:xfrm>
            <a:off x="-684423" y="-1789571"/>
            <a:ext cx="10430491" cy="7512343"/>
            <a:chOff x="-684423" y="-1789571"/>
            <a:chExt cx="10430491" cy="7512343"/>
          </a:xfrm>
        </p:grpSpPr>
        <p:grpSp>
          <p:nvGrpSpPr>
            <p:cNvPr id="1409" name="Google Shape;1409;p16"/>
            <p:cNvGrpSpPr/>
            <p:nvPr/>
          </p:nvGrpSpPr>
          <p:grpSpPr>
            <a:xfrm>
              <a:off x="7144492" y="3147242"/>
              <a:ext cx="2300520" cy="2575530"/>
              <a:chOff x="3238240" y="323850"/>
              <a:chExt cx="1739919" cy="1947912"/>
            </a:xfrm>
          </p:grpSpPr>
          <p:sp>
            <p:nvSpPr>
              <p:cNvPr id="1410" name="Google Shape;1410;p16"/>
              <p:cNvSpPr/>
              <p:nvPr/>
            </p:nvSpPr>
            <p:spPr>
              <a:xfrm>
                <a:off x="3238240" y="323850"/>
                <a:ext cx="1654154" cy="1947912"/>
              </a:xfrm>
              <a:custGeom>
                <a:avLst/>
                <a:gdLst/>
                <a:ahLst/>
                <a:cxnLst/>
                <a:rect l="l" t="t" r="r" b="b"/>
                <a:pathLst>
                  <a:path w="50016" h="58876" extrusionOk="0">
                    <a:moveTo>
                      <a:pt x="50016" y="49881"/>
                    </a:moveTo>
                    <a:lnTo>
                      <a:pt x="135" y="0"/>
                    </a:lnTo>
                    <a:lnTo>
                      <a:pt x="0" y="29959"/>
                    </a:lnTo>
                    <a:lnTo>
                      <a:pt x="26668" y="56627"/>
                    </a:lnTo>
                    <a:cubicBezTo>
                      <a:pt x="28107" y="58067"/>
                      <a:pt x="30060" y="58876"/>
                      <a:pt x="32096" y="58876"/>
                    </a:cubicBezTo>
                    <a:lnTo>
                      <a:pt x="49927" y="58876"/>
                    </a:lnTo>
                    <a:lnTo>
                      <a:pt x="50016" y="49881"/>
                    </a:ln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1" name="Google Shape;1411;p16"/>
              <p:cNvSpPr/>
              <p:nvPr/>
            </p:nvSpPr>
            <p:spPr>
              <a:xfrm>
                <a:off x="4036753" y="947738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7"/>
                    </a:moveTo>
                    <a:lnTo>
                      <a:pt x="0" y="5307"/>
                    </a:lnTo>
                    <a:cubicBezTo>
                      <a:pt x="5307" y="0"/>
                      <a:pt x="13912" y="0"/>
                      <a:pt x="19219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4" y="19847"/>
                      <a:pt x="14540" y="19847"/>
                      <a:pt x="9232" y="14540"/>
                    </a:cubicBezTo>
                    <a:lnTo>
                      <a:pt x="0" y="5307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16"/>
              <p:cNvSpPr/>
              <p:nvPr/>
            </p:nvSpPr>
            <p:spPr>
              <a:xfrm>
                <a:off x="3724015" y="1260475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8"/>
                    </a:moveTo>
                    <a:lnTo>
                      <a:pt x="0" y="5308"/>
                    </a:lnTo>
                    <a:cubicBezTo>
                      <a:pt x="5308" y="0"/>
                      <a:pt x="13912" y="0"/>
                      <a:pt x="19220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5" y="19847"/>
                      <a:pt x="14540" y="19847"/>
                      <a:pt x="9233" y="14540"/>
                    </a:cubicBezTo>
                    <a:lnTo>
                      <a:pt x="0" y="5308"/>
                    </a:lnTo>
                    <a:close/>
                  </a:path>
                </a:pathLst>
              </a:custGeom>
              <a:solidFill>
                <a:srgbClr val="F0EBE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16"/>
              <p:cNvSpPr/>
              <p:nvPr/>
            </p:nvSpPr>
            <p:spPr>
              <a:xfrm>
                <a:off x="4109778" y="1271588"/>
                <a:ext cx="403228" cy="403228"/>
              </a:xfrm>
              <a:custGeom>
                <a:avLst/>
                <a:gdLst/>
                <a:ahLst/>
                <a:cxnLst/>
                <a:rect l="l" t="t" r="r" b="b"/>
                <a:pathLst>
                  <a:path w="12207" h="12207" extrusionOk="0">
                    <a:moveTo>
                      <a:pt x="2664" y="9543"/>
                    </a:moveTo>
                    <a:cubicBezTo>
                      <a:pt x="5293" y="12173"/>
                      <a:pt x="9529" y="12207"/>
                      <a:pt x="12207" y="9655"/>
                    </a:cubicBezTo>
                    <a:lnTo>
                      <a:pt x="2552" y="0"/>
                    </a:lnTo>
                    <a:cubicBezTo>
                      <a:pt x="0" y="2678"/>
                      <a:pt x="34" y="6914"/>
                      <a:pt x="2664" y="9543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16"/>
              <p:cNvSpPr/>
              <p:nvPr/>
            </p:nvSpPr>
            <p:spPr>
              <a:xfrm>
                <a:off x="4192328" y="1189038"/>
                <a:ext cx="403225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12206" h="12206" extrusionOk="0">
                    <a:moveTo>
                      <a:pt x="9543" y="2663"/>
                    </a:moveTo>
                    <a:cubicBezTo>
                      <a:pt x="6913" y="34"/>
                      <a:pt x="2677" y="0"/>
                      <a:pt x="0" y="2551"/>
                    </a:cubicBezTo>
                    <a:lnTo>
                      <a:pt x="9655" y="12206"/>
                    </a:lnTo>
                    <a:cubicBezTo>
                      <a:pt x="12206" y="9529"/>
                      <a:pt x="12172" y="5293"/>
                      <a:pt x="9543" y="2663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5" name="Google Shape;1415;p16"/>
            <p:cNvSpPr/>
            <p:nvPr/>
          </p:nvSpPr>
          <p:spPr>
            <a:xfrm>
              <a:off x="-684423" y="-1789571"/>
              <a:ext cx="2187200" cy="2575531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6" name="Google Shape;1416;p16"/>
            <p:cNvGrpSpPr/>
            <p:nvPr/>
          </p:nvGrpSpPr>
          <p:grpSpPr>
            <a:xfrm flipH="1">
              <a:off x="8238198" y="-570847"/>
              <a:ext cx="1507871" cy="1510263"/>
              <a:chOff x="39184" y="-151930"/>
              <a:chExt cx="1309825" cy="1311903"/>
            </a:xfrm>
          </p:grpSpPr>
          <p:sp>
            <p:nvSpPr>
              <p:cNvPr id="1417" name="Google Shape;1417;p16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16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9" name="Google Shape;1419;p16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16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16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16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3" name="Google Shape;1423;p16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16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16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16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p16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16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16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p16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1" name="Google Shape;1431;p16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16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p16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4" name="Google Shape;1434;p16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p16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16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p16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8" name="Google Shape;1438;p16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9" name="Google Shape;1439;p16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0" name="Google Shape;1440;p16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16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16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16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16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16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16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7" name="Google Shape;1447;p16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16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16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p16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1" name="Google Shape;1451;p16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16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16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16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16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6" name="Google Shape;1456;p16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16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16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16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0" name="Google Shape;1460;p16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16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16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16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4" name="Google Shape;1464;p16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16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16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p16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8" name="Google Shape;1468;p16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16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16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16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2" name="Google Shape;1472;p16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16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16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16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16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16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16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9" name="Google Shape;1479;p16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0" name="Google Shape;1480;p16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16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16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p16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p16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16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16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7" name="Google Shape;1487;p16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8" name="Google Shape;1488;p16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16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16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1" name="Google Shape;1491;p16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2" name="Google Shape;1492;p16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16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16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16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p16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16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16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16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16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16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16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16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p16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16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16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16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p16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16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16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16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2" name="Google Shape;1512;p16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16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16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5" name="Google Shape;1515;p16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6" name="Google Shape;1516;p16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p16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p16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9" name="Google Shape;1519;p16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16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16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16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3" name="Google Shape;1523;p16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p16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16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16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7" name="Google Shape;1527;p16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p16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16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16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p16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p16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16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20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7" name="Google Shape;1797;p20"/>
          <p:cNvSpPr/>
          <p:nvPr/>
        </p:nvSpPr>
        <p:spPr>
          <a:xfrm>
            <a:off x="8420420" y="4398962"/>
            <a:ext cx="740961" cy="740961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8" name="Google Shape;1798;p20"/>
          <p:cNvGrpSpPr/>
          <p:nvPr/>
        </p:nvGrpSpPr>
        <p:grpSpPr>
          <a:xfrm>
            <a:off x="-481750" y="4102340"/>
            <a:ext cx="1507871" cy="1510263"/>
            <a:chOff x="39184" y="-151930"/>
            <a:chExt cx="1309825" cy="1311903"/>
          </a:xfrm>
        </p:grpSpPr>
        <p:sp>
          <p:nvSpPr>
            <p:cNvPr id="1799" name="Google Shape;1799;p20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20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20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20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20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20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20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20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20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20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20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20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20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20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20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20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20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20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20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20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20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20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20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20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20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20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20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20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20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20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20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20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20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20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20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20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20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20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20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20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20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20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20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20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20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20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20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20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20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20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20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20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20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20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20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20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20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20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20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20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20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20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20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20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20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20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20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20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20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20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20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20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20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20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20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20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20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20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20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20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20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20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20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20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20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20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20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20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20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20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20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20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20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20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20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20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20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20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20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20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20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20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20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20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20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20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20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20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20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20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20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20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20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20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20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20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20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6" name="Google Shape;1916;p20"/>
          <p:cNvGrpSpPr/>
          <p:nvPr/>
        </p:nvGrpSpPr>
        <p:grpSpPr>
          <a:xfrm flipH="1">
            <a:off x="8632879" y="-120500"/>
            <a:ext cx="1507871" cy="1510263"/>
            <a:chOff x="39184" y="-151930"/>
            <a:chExt cx="1309825" cy="1311903"/>
          </a:xfrm>
        </p:grpSpPr>
        <p:sp>
          <p:nvSpPr>
            <p:cNvPr id="1917" name="Google Shape;1917;p20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20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20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20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20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20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20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20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20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20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20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20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20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20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20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20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20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20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20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20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20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20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20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20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20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20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20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20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20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20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20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20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20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20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20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20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20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20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20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20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20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20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20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20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20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20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20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20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20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20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20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20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20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20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20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20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20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20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20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20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20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20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20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20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20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20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20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20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20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20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20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20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20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20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20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20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20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20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20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20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20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20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20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20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20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20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20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20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20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20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20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20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20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20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20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20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20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20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20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20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20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20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20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20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20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20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20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20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20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20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20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20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20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20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20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20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20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"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21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6" name="Google Shape;2036;p2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_1_1"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22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9" name="Google Shape;2039;p22"/>
          <p:cNvSpPr txBox="1">
            <a:spLocks noGrp="1"/>
          </p:cNvSpPr>
          <p:nvPr>
            <p:ph type="title"/>
          </p:nvPr>
        </p:nvSpPr>
        <p:spPr>
          <a:xfrm>
            <a:off x="728527" y="539500"/>
            <a:ext cx="33477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040" name="Google Shape;2040;p22"/>
          <p:cNvSpPr txBox="1">
            <a:spLocks noGrp="1"/>
          </p:cNvSpPr>
          <p:nvPr>
            <p:ph type="title" idx="2"/>
          </p:nvPr>
        </p:nvSpPr>
        <p:spPr>
          <a:xfrm>
            <a:off x="4977550" y="539500"/>
            <a:ext cx="34584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  <p:sldLayoutId id="2147483666" r:id="rId12"/>
    <p:sldLayoutId id="2147483667" r:id="rId13"/>
    <p:sldLayoutId id="2147483668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27"/>
          <p:cNvSpPr txBox="1">
            <a:spLocks noGrp="1"/>
          </p:cNvSpPr>
          <p:nvPr>
            <p:ph type="ctrTitle"/>
          </p:nvPr>
        </p:nvSpPr>
        <p:spPr>
          <a:xfrm>
            <a:off x="463696" y="605575"/>
            <a:ext cx="7295450" cy="1531206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SzPts val="9000"/>
            </a:pPr>
            <a:r>
              <a:rPr lang="en-US" sz="2600" dirty="0"/>
              <a:t>Predicting Start-up Outcomes in Pakistan: An Integrated Econometric and Multidimensional Statistical Approach</a:t>
            </a:r>
            <a:endParaRPr sz="2600" dirty="0"/>
          </a:p>
        </p:txBody>
      </p:sp>
      <p:sp>
        <p:nvSpPr>
          <p:cNvPr id="2057" name="Google Shape;2057;p27"/>
          <p:cNvSpPr txBox="1">
            <a:spLocks noGrp="1"/>
          </p:cNvSpPr>
          <p:nvPr>
            <p:ph type="subTitle" idx="1"/>
          </p:nvPr>
        </p:nvSpPr>
        <p:spPr>
          <a:xfrm>
            <a:off x="5054936" y="2578386"/>
            <a:ext cx="3338246" cy="210468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sz="1400" b="1" dirty="0"/>
              <a:t>By:</a:t>
            </a:r>
          </a:p>
          <a:p>
            <a:pPr algn="l"/>
            <a:r>
              <a:rPr lang="en-US" sz="1400" dirty="0"/>
              <a:t>Zoha Ehsan (3001-BS-STAT-22)</a:t>
            </a:r>
          </a:p>
          <a:p>
            <a:pPr algn="l"/>
            <a:r>
              <a:rPr lang="en-US" sz="1400" dirty="0"/>
              <a:t>Department of Statistics</a:t>
            </a:r>
          </a:p>
          <a:p>
            <a:pPr algn="l"/>
            <a:r>
              <a:rPr lang="en-US" sz="1400" dirty="0"/>
              <a:t>Government College University, Lahore</a:t>
            </a:r>
          </a:p>
          <a:p>
            <a:pPr algn="l"/>
            <a:r>
              <a:rPr lang="en-US" sz="1400" b="1" dirty="0"/>
              <a:t>Supervised by:</a:t>
            </a:r>
          </a:p>
          <a:p>
            <a:pPr algn="l"/>
            <a:r>
              <a:rPr lang="en-US" sz="1400" dirty="0"/>
              <a:t>Dr. Hina Khan</a:t>
            </a:r>
          </a:p>
          <a:p>
            <a:pPr algn="l"/>
            <a:r>
              <a:rPr lang="en-US" sz="1400" dirty="0"/>
              <a:t>Associate Professor</a:t>
            </a:r>
          </a:p>
          <a:p>
            <a:pPr algn="l"/>
            <a:endParaRPr lang="en-US" dirty="0"/>
          </a:p>
          <a:p>
            <a:pPr marL="457200" lvl="0" indent="-361950" algn="ctr" rtl="0">
              <a:spcBef>
                <a:spcPts val="750"/>
              </a:spcBef>
              <a:spcAft>
                <a:spcPts val="0"/>
              </a:spcAft>
              <a:buSzPts val="1600"/>
              <a:buNone/>
            </a:pPr>
            <a:endParaRPr dirty="0"/>
          </a:p>
        </p:txBody>
      </p:sp>
      <p:grpSp>
        <p:nvGrpSpPr>
          <p:cNvPr id="2058" name="Google Shape;2058;p27"/>
          <p:cNvGrpSpPr/>
          <p:nvPr/>
        </p:nvGrpSpPr>
        <p:grpSpPr>
          <a:xfrm>
            <a:off x="7299621" y="-188885"/>
            <a:ext cx="2300520" cy="2575530"/>
            <a:chOff x="3238240" y="323850"/>
            <a:chExt cx="1739919" cy="1947912"/>
          </a:xfrm>
        </p:grpSpPr>
        <p:sp>
          <p:nvSpPr>
            <p:cNvPr id="2059" name="Google Shape;2059;p27"/>
            <p:cNvSpPr/>
            <p:nvPr/>
          </p:nvSpPr>
          <p:spPr>
            <a:xfrm>
              <a:off x="3238240" y="323850"/>
              <a:ext cx="1654154" cy="1947912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27"/>
            <p:cNvSpPr/>
            <p:nvPr/>
          </p:nvSpPr>
          <p:spPr>
            <a:xfrm>
              <a:off x="4036753" y="947738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27"/>
            <p:cNvSpPr/>
            <p:nvPr/>
          </p:nvSpPr>
          <p:spPr>
            <a:xfrm>
              <a:off x="3724015" y="1260475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27"/>
            <p:cNvSpPr/>
            <p:nvPr/>
          </p:nvSpPr>
          <p:spPr>
            <a:xfrm>
              <a:off x="4109778" y="1271588"/>
              <a:ext cx="403228" cy="403228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27"/>
            <p:cNvSpPr/>
            <p:nvPr/>
          </p:nvSpPr>
          <p:spPr>
            <a:xfrm>
              <a:off x="4192328" y="1189038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4" name="Google Shape;2064;p27"/>
          <p:cNvGrpSpPr/>
          <p:nvPr/>
        </p:nvGrpSpPr>
        <p:grpSpPr>
          <a:xfrm>
            <a:off x="-8578" y="2367133"/>
            <a:ext cx="2187094" cy="2789634"/>
            <a:chOff x="3700202" y="2700338"/>
            <a:chExt cx="1654132" cy="2109842"/>
          </a:xfrm>
        </p:grpSpPr>
        <p:sp>
          <p:nvSpPr>
            <p:cNvPr id="2065" name="Google Shape;2065;p27"/>
            <p:cNvSpPr/>
            <p:nvPr/>
          </p:nvSpPr>
          <p:spPr>
            <a:xfrm>
              <a:off x="3700202" y="2700338"/>
              <a:ext cx="1654132" cy="2109842"/>
            </a:xfrm>
            <a:custGeom>
              <a:avLst/>
              <a:gdLst/>
              <a:ahLst/>
              <a:cxnLst/>
              <a:rect l="l" t="t" r="r" b="b"/>
              <a:pathLst>
                <a:path w="50004" h="63780" extrusionOk="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27"/>
            <p:cNvSpPr/>
            <p:nvPr/>
          </p:nvSpPr>
          <p:spPr>
            <a:xfrm>
              <a:off x="3703377" y="3690938"/>
              <a:ext cx="1117623" cy="1117589"/>
            </a:xfrm>
            <a:custGeom>
              <a:avLst/>
              <a:gdLst/>
              <a:ahLst/>
              <a:cxnLst/>
              <a:rect l="l" t="t" r="r" b="b"/>
              <a:pathLst>
                <a:path w="33788" h="33787" extrusionOk="0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27"/>
            <p:cNvSpPr/>
            <p:nvPr/>
          </p:nvSpPr>
          <p:spPr>
            <a:xfrm>
              <a:off x="4057390" y="3656013"/>
              <a:ext cx="935041" cy="652454"/>
            </a:xfrm>
            <a:custGeom>
              <a:avLst/>
              <a:gdLst/>
              <a:ahLst/>
              <a:cxnLst/>
              <a:rect l="l" t="t" r="r" b="b"/>
              <a:pathLst>
                <a:path w="28281" h="19728" extrusionOk="0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27"/>
            <p:cNvSpPr/>
            <p:nvPr/>
          </p:nvSpPr>
          <p:spPr>
            <a:xfrm>
              <a:off x="3746240" y="3967163"/>
              <a:ext cx="935041" cy="652471"/>
            </a:xfrm>
            <a:custGeom>
              <a:avLst/>
              <a:gdLst/>
              <a:ahLst/>
              <a:cxnLst/>
              <a:rect l="l" t="t" r="r" b="b"/>
              <a:pathLst>
                <a:path w="28281" h="19727" extrusionOk="0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27"/>
            <p:cNvSpPr/>
            <p:nvPr/>
          </p:nvSpPr>
          <p:spPr>
            <a:xfrm>
              <a:off x="4128827" y="3976688"/>
              <a:ext cx="401633" cy="401633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27"/>
            <p:cNvSpPr/>
            <p:nvPr/>
          </p:nvSpPr>
          <p:spPr>
            <a:xfrm>
              <a:off x="4211377" y="3895725"/>
              <a:ext cx="401633" cy="401633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1" name="Google Shape;2071;p27"/>
          <p:cNvSpPr/>
          <p:nvPr/>
        </p:nvSpPr>
        <p:spPr>
          <a:xfrm>
            <a:off x="7505439" y="-2014745"/>
            <a:ext cx="2187200" cy="2575531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29"/>
          <p:cNvSpPr/>
          <p:nvPr/>
        </p:nvSpPr>
        <p:spPr>
          <a:xfrm>
            <a:off x="5126794" y="2598363"/>
            <a:ext cx="641400" cy="4707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6" name="Google Shape;2086;p29"/>
          <p:cNvSpPr/>
          <p:nvPr/>
        </p:nvSpPr>
        <p:spPr>
          <a:xfrm>
            <a:off x="1252225" y="2594944"/>
            <a:ext cx="641400" cy="4707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7" name="Google Shape;2087;p29"/>
          <p:cNvSpPr/>
          <p:nvPr/>
        </p:nvSpPr>
        <p:spPr>
          <a:xfrm>
            <a:off x="5143900" y="1169161"/>
            <a:ext cx="641400" cy="4707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8" name="Google Shape;2088;p29"/>
          <p:cNvSpPr/>
          <p:nvPr/>
        </p:nvSpPr>
        <p:spPr>
          <a:xfrm>
            <a:off x="1252225" y="1021888"/>
            <a:ext cx="641400" cy="4707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9" name="Google Shape;2089;p29"/>
          <p:cNvSpPr txBox="1">
            <a:spLocks noGrp="1"/>
          </p:cNvSpPr>
          <p:nvPr>
            <p:ph type="subTitle" idx="3"/>
          </p:nvPr>
        </p:nvSpPr>
        <p:spPr>
          <a:xfrm>
            <a:off x="1983057" y="1096392"/>
            <a:ext cx="2083500" cy="39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>
              <a:buSzPts val="1400"/>
            </a:pPr>
            <a:r>
              <a:rPr lang="en-US" dirty="0"/>
              <a:t>Global Context</a:t>
            </a:r>
            <a:endParaRPr dirty="0"/>
          </a:p>
        </p:txBody>
      </p:sp>
      <p:sp>
        <p:nvSpPr>
          <p:cNvPr id="2090" name="Google Shape;2090;p29"/>
          <p:cNvSpPr txBox="1">
            <a:spLocks noGrp="1"/>
          </p:cNvSpPr>
          <p:nvPr>
            <p:ph type="subTitle" idx="4"/>
          </p:nvPr>
        </p:nvSpPr>
        <p:spPr>
          <a:xfrm>
            <a:off x="1252225" y="3218935"/>
            <a:ext cx="3448564" cy="90267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US" sz="1600" dirty="0"/>
              <a:t>55+ funded startups closed in 2021-24</a:t>
            </a:r>
          </a:p>
          <a:p>
            <a:pPr marL="0" lvl="0" indent="0"/>
            <a:r>
              <a:rPr lang="en-US" sz="1600" dirty="0"/>
              <a:t>2022 = "exodus year"</a:t>
            </a:r>
            <a:endParaRPr sz="1600" dirty="0"/>
          </a:p>
        </p:txBody>
      </p:sp>
      <p:sp>
        <p:nvSpPr>
          <p:cNvPr id="2091" name="Google Shape;2091;p29"/>
          <p:cNvSpPr txBox="1">
            <a:spLocks noGrp="1"/>
          </p:cNvSpPr>
          <p:nvPr>
            <p:ph type="subTitle" idx="7"/>
          </p:nvPr>
        </p:nvSpPr>
        <p:spPr>
          <a:xfrm>
            <a:off x="5264756" y="1698952"/>
            <a:ext cx="3159243" cy="87279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SzPts val="2500"/>
            </a:pPr>
            <a:r>
              <a:rPr lang="en-US" sz="1600" dirty="0"/>
              <a:t>88% funding decline (2022→2024)</a:t>
            </a:r>
          </a:p>
          <a:p>
            <a:pPr marL="0" lvl="0" indent="0">
              <a:buSzPts val="2500"/>
            </a:pPr>
            <a:r>
              <a:rPr lang="en-US" sz="1600" dirty="0"/>
              <a:t>90% fail within first 3 years</a:t>
            </a:r>
            <a:endParaRPr sz="1600" dirty="0"/>
          </a:p>
        </p:txBody>
      </p:sp>
      <p:sp>
        <p:nvSpPr>
          <p:cNvPr id="2092" name="Google Shape;2092;p29"/>
          <p:cNvSpPr txBox="1">
            <a:spLocks noGrp="1"/>
          </p:cNvSpPr>
          <p:nvPr>
            <p:ph type="subTitle" idx="6"/>
          </p:nvPr>
        </p:nvSpPr>
        <p:spPr>
          <a:xfrm>
            <a:off x="1955237" y="2634094"/>
            <a:ext cx="2315974" cy="39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SzPts val="1400"/>
            </a:pPr>
            <a:r>
              <a:rPr lang="en-US" sz="1700" dirty="0"/>
              <a:t>Startup Ecosystem</a:t>
            </a:r>
            <a:endParaRPr sz="1700" dirty="0"/>
          </a:p>
        </p:txBody>
      </p:sp>
      <p:sp>
        <p:nvSpPr>
          <p:cNvPr id="2093" name="Google Shape;2093;p29"/>
          <p:cNvSpPr txBox="1">
            <a:spLocks noGrp="1"/>
          </p:cNvSpPr>
          <p:nvPr>
            <p:ph type="subTitle" idx="9"/>
          </p:nvPr>
        </p:nvSpPr>
        <p:spPr>
          <a:xfrm>
            <a:off x="5898275" y="1206112"/>
            <a:ext cx="2632114" cy="39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SzPts val="1400"/>
            </a:pPr>
            <a:r>
              <a:rPr lang="en-US" sz="1700" dirty="0"/>
              <a:t>Pakistan Context</a:t>
            </a:r>
            <a:endParaRPr sz="1700" dirty="0"/>
          </a:p>
        </p:txBody>
      </p:sp>
      <p:sp>
        <p:nvSpPr>
          <p:cNvPr id="2094" name="Google Shape;2094;p29"/>
          <p:cNvSpPr txBox="1">
            <a:spLocks noGrp="1"/>
          </p:cNvSpPr>
          <p:nvPr>
            <p:ph type="subTitle" idx="13"/>
          </p:nvPr>
        </p:nvSpPr>
        <p:spPr>
          <a:xfrm>
            <a:off x="5143899" y="3231133"/>
            <a:ext cx="3386489" cy="113632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US" sz="1600" dirty="0"/>
              <a:t>Airlift: $109M → shut down in 1 year</a:t>
            </a:r>
          </a:p>
          <a:p>
            <a:pPr marL="0" lvl="0" indent="0"/>
            <a:r>
              <a:rPr lang="en-US" sz="1600" dirty="0"/>
              <a:t>Careem: suspended after 10 years</a:t>
            </a:r>
            <a:endParaRPr sz="1600" dirty="0"/>
          </a:p>
        </p:txBody>
      </p:sp>
      <p:sp>
        <p:nvSpPr>
          <p:cNvPr id="2095" name="Google Shape;2095;p29"/>
          <p:cNvSpPr txBox="1">
            <a:spLocks noGrp="1"/>
          </p:cNvSpPr>
          <p:nvPr>
            <p:ph type="subTitle" idx="15"/>
          </p:nvPr>
        </p:nvSpPr>
        <p:spPr>
          <a:xfrm>
            <a:off x="5858194" y="2634094"/>
            <a:ext cx="2431564" cy="39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SzPts val="1400"/>
            </a:pPr>
            <a:r>
              <a:rPr lang="en-US" sz="1700" dirty="0"/>
              <a:t>High-Profile Failure</a:t>
            </a:r>
            <a:endParaRPr sz="1700" dirty="0"/>
          </a:p>
        </p:txBody>
      </p:sp>
      <p:sp>
        <p:nvSpPr>
          <p:cNvPr id="2096" name="Google Shape;2096;p29"/>
          <p:cNvSpPr txBox="1">
            <a:spLocks noGrp="1"/>
          </p:cNvSpPr>
          <p:nvPr>
            <p:ph type="subTitle" idx="1"/>
          </p:nvPr>
        </p:nvSpPr>
        <p:spPr>
          <a:xfrm>
            <a:off x="1252225" y="1626053"/>
            <a:ext cx="2867700" cy="83492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US" sz="1600" dirty="0"/>
              <a:t>90% of startups fail worldwide</a:t>
            </a:r>
          </a:p>
          <a:p>
            <a:pPr marL="0" lvl="0" indent="0"/>
            <a:r>
              <a:rPr lang="en-US" sz="1600" dirty="0"/>
              <a:t>50% fail within first 5 years</a:t>
            </a:r>
          </a:p>
          <a:p>
            <a:pPr marL="0" lvl="0" indent="0"/>
            <a:endParaRPr dirty="0"/>
          </a:p>
        </p:txBody>
      </p:sp>
      <p:sp>
        <p:nvSpPr>
          <p:cNvPr id="2098" name="Google Shape;2098;p29"/>
          <p:cNvSpPr txBox="1">
            <a:spLocks noGrp="1"/>
          </p:cNvSpPr>
          <p:nvPr>
            <p:ph type="title" idx="2"/>
          </p:nvPr>
        </p:nvSpPr>
        <p:spPr>
          <a:xfrm>
            <a:off x="1162225" y="1132446"/>
            <a:ext cx="731400" cy="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099" name="Google Shape;2099;p29"/>
          <p:cNvSpPr txBox="1">
            <a:spLocks noGrp="1"/>
          </p:cNvSpPr>
          <p:nvPr>
            <p:ph type="title" idx="5"/>
          </p:nvPr>
        </p:nvSpPr>
        <p:spPr>
          <a:xfrm>
            <a:off x="1162225" y="2692572"/>
            <a:ext cx="731400" cy="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100" name="Google Shape;2100;p29"/>
          <p:cNvSpPr txBox="1">
            <a:spLocks noGrp="1"/>
          </p:cNvSpPr>
          <p:nvPr>
            <p:ph type="title" idx="8"/>
          </p:nvPr>
        </p:nvSpPr>
        <p:spPr>
          <a:xfrm>
            <a:off x="5104638" y="1269600"/>
            <a:ext cx="731400" cy="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01" name="Google Shape;2101;p29"/>
          <p:cNvSpPr txBox="1">
            <a:spLocks noGrp="1"/>
          </p:cNvSpPr>
          <p:nvPr>
            <p:ph type="title" idx="14"/>
          </p:nvPr>
        </p:nvSpPr>
        <p:spPr>
          <a:xfrm>
            <a:off x="5090158" y="2700654"/>
            <a:ext cx="731400" cy="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C96B7E-676B-669E-F3B7-70080FB35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38251"/>
            <a:ext cx="7704000" cy="572700"/>
          </a:xfrm>
        </p:spPr>
        <p:txBody>
          <a:bodyPr/>
          <a:lstStyle/>
          <a:p>
            <a:pPr algn="ctr"/>
            <a:r>
              <a:rPr lang="en-US" sz="3200" dirty="0"/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2F208-1263-8712-9AD1-C09984D57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100" y="926433"/>
            <a:ext cx="6370390" cy="1419726"/>
          </a:xfrm>
        </p:spPr>
        <p:txBody>
          <a:bodyPr/>
          <a:lstStyle/>
          <a:p>
            <a:pPr>
              <a:buAutoNum type="arabicPeriod"/>
            </a:pPr>
            <a:r>
              <a:rPr lang="en-US" sz="1800" dirty="0"/>
              <a:t>Describe characteristics of Pakistani startups</a:t>
            </a:r>
          </a:p>
          <a:p>
            <a:pPr>
              <a:buAutoNum type="arabicPeriod"/>
            </a:pPr>
            <a:r>
              <a:rPr lang="en-US" sz="1800" dirty="0"/>
              <a:t>Identify factors that predict startup survival</a:t>
            </a:r>
          </a:p>
          <a:p>
            <a:pPr>
              <a:buAutoNum type="arabicPeriod"/>
            </a:pPr>
            <a:r>
              <a:rPr lang="en-US" sz="1800" dirty="0"/>
              <a:t>Identify factors that predict startup revenue</a:t>
            </a:r>
          </a:p>
          <a:p>
            <a:pPr>
              <a:buAutoNum type="arabicPeriod"/>
            </a:pPr>
            <a:r>
              <a:rPr lang="en-US" sz="1800" dirty="0"/>
              <a:t>To develop a statistical model for predicting startup closure.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DA0DAE-3B30-3D8F-B2D4-59F555B6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100" y="454461"/>
            <a:ext cx="6145800" cy="572488"/>
          </a:xfrm>
        </p:spPr>
        <p:txBody>
          <a:bodyPr/>
          <a:lstStyle/>
          <a:p>
            <a:pPr algn="ctr"/>
            <a:r>
              <a:rPr lang="en-US" dirty="0"/>
              <a:t>Objectives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086DBFCB-4867-76CE-22DC-217A47D0C02F}"/>
              </a:ext>
            </a:extLst>
          </p:cNvPr>
          <p:cNvSpPr txBox="1">
            <a:spLocks/>
          </p:cNvSpPr>
          <p:nvPr/>
        </p:nvSpPr>
        <p:spPr>
          <a:xfrm>
            <a:off x="944690" y="2511099"/>
            <a:ext cx="6145800" cy="572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en-US" dirty="0"/>
              <a:t>Research Gap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F4E3D8BA-070E-B592-0201-45A0E182A3D2}"/>
              </a:ext>
            </a:extLst>
          </p:cNvPr>
          <p:cNvSpPr txBox="1">
            <a:spLocks/>
          </p:cNvSpPr>
          <p:nvPr/>
        </p:nvSpPr>
        <p:spPr>
          <a:xfrm>
            <a:off x="720100" y="3083587"/>
            <a:ext cx="6510880" cy="1077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>
              <a:buFont typeface="Arimo"/>
              <a:buAutoNum type="arabicPeriod"/>
            </a:pPr>
            <a:r>
              <a:rPr lang="en-US" sz="1800" dirty="0"/>
              <a:t>No integrated statistical framework for Pakistani startups at department of Statistics in GCU Lahore.</a:t>
            </a:r>
          </a:p>
          <a:p>
            <a:pPr>
              <a:buFont typeface="Arimo"/>
              <a:buAutoNum type="arabicPeriod"/>
            </a:pPr>
            <a:r>
              <a:rPr lang="en-US" sz="1800" dirty="0"/>
              <a:t>Survival and revenue are rarely studied together. </a:t>
            </a:r>
          </a:p>
        </p:txBody>
      </p:sp>
    </p:spTree>
    <p:extLst>
      <p:ext uri="{BB962C8B-B14F-4D97-AF65-F5344CB8AC3E}">
        <p14:creationId xmlns:p14="http://schemas.microsoft.com/office/powerpoint/2010/main" val="1306338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p32"/>
          <p:cNvSpPr/>
          <p:nvPr/>
        </p:nvSpPr>
        <p:spPr>
          <a:xfrm>
            <a:off x="7326497" y="-644372"/>
            <a:ext cx="2187200" cy="2575531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B1CEDF4-22D1-958C-9D61-6EFF93AA4159}"/>
              </a:ext>
            </a:extLst>
          </p:cNvPr>
          <p:cNvSpPr/>
          <p:nvPr/>
        </p:nvSpPr>
        <p:spPr>
          <a:xfrm>
            <a:off x="2887581" y="658728"/>
            <a:ext cx="3200400" cy="19731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Data</a:t>
            </a:r>
          </a:p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CB3CB8F-8744-0F25-EB04-3F8CF734DC6C}"/>
              </a:ext>
            </a:extLst>
          </p:cNvPr>
          <p:cNvSpPr/>
          <p:nvPr/>
        </p:nvSpPr>
        <p:spPr>
          <a:xfrm>
            <a:off x="697834" y="1087352"/>
            <a:ext cx="1455821" cy="11159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>
                <a:solidFill>
                  <a:schemeClr val="tx1"/>
                </a:solidFill>
              </a:rPr>
              <a:t>Cities:</a:t>
            </a:r>
          </a:p>
          <a:p>
            <a:pPr lvl="0" algn="ctr"/>
            <a:r>
              <a:rPr lang="en-US" dirty="0">
                <a:solidFill>
                  <a:schemeClr val="tx1"/>
                </a:solidFill>
              </a:rPr>
              <a:t>Lahore Karachi Islamabad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8932E76-D3DA-064F-F3C2-07C92943C26A}"/>
              </a:ext>
            </a:extLst>
          </p:cNvPr>
          <p:cNvSpPr/>
          <p:nvPr/>
        </p:nvSpPr>
        <p:spPr>
          <a:xfrm>
            <a:off x="6724922" y="1087353"/>
            <a:ext cx="1432489" cy="1115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>
                <a:solidFill>
                  <a:schemeClr val="tx1"/>
                </a:solidFill>
              </a:rPr>
              <a:t>Sample: </a:t>
            </a:r>
          </a:p>
          <a:p>
            <a:pPr lvl="0"/>
            <a:r>
              <a:rPr lang="en-US" dirty="0">
                <a:solidFill>
                  <a:schemeClr val="tx1"/>
                </a:solidFill>
              </a:rPr>
              <a:t>150 Startups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8CC0CE5-C681-466B-76F5-DA22A9514360}"/>
              </a:ext>
            </a:extLst>
          </p:cNvPr>
          <p:cNvSpPr/>
          <p:nvPr/>
        </p:nvSpPr>
        <p:spPr>
          <a:xfrm>
            <a:off x="697834" y="3023685"/>
            <a:ext cx="1612231" cy="11159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>
                <a:solidFill>
                  <a:schemeClr val="tx1"/>
                </a:solidFill>
              </a:rPr>
              <a:t>Time Period: </a:t>
            </a:r>
            <a:r>
              <a:rPr lang="en-US" dirty="0">
                <a:solidFill>
                  <a:schemeClr val="tx1"/>
                </a:solidFill>
              </a:rPr>
              <a:t>Founded between 20210-2022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AD94A59-1680-5D09-512E-5094525CD0EB}"/>
              </a:ext>
            </a:extLst>
          </p:cNvPr>
          <p:cNvCxnSpPr/>
          <p:nvPr/>
        </p:nvCxnSpPr>
        <p:spPr>
          <a:xfrm flipH="1">
            <a:off x="2304050" y="2580021"/>
            <a:ext cx="818147" cy="11099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0791B8-98C2-8303-0DFA-8C5102342C8D}"/>
              </a:ext>
            </a:extLst>
          </p:cNvPr>
          <p:cNvCxnSpPr>
            <a:stCxn id="19" idx="1"/>
          </p:cNvCxnSpPr>
          <p:nvPr/>
        </p:nvCxnSpPr>
        <p:spPr>
          <a:xfrm flipH="1" flipV="1">
            <a:off x="2153655" y="1645317"/>
            <a:ext cx="73392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B72BB75-A481-663B-0B10-A93DFEA46BAC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4487781" y="2631907"/>
            <a:ext cx="0" cy="834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0506923-71B1-94E0-5619-23574F0EBAAF}"/>
              </a:ext>
            </a:extLst>
          </p:cNvPr>
          <p:cNvCxnSpPr>
            <a:cxnSpLocks/>
          </p:cNvCxnSpPr>
          <p:nvPr/>
        </p:nvCxnSpPr>
        <p:spPr>
          <a:xfrm>
            <a:off x="5853366" y="2622793"/>
            <a:ext cx="757986" cy="9207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B5C5981-4C1F-52E5-237E-200A4754217F}"/>
              </a:ext>
            </a:extLst>
          </p:cNvPr>
          <p:cNvCxnSpPr>
            <a:stCxn id="19" idx="3"/>
          </p:cNvCxnSpPr>
          <p:nvPr/>
        </p:nvCxnSpPr>
        <p:spPr>
          <a:xfrm flipV="1">
            <a:off x="6087981" y="1645317"/>
            <a:ext cx="67376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00FB608-639C-8C0E-6A2B-6E876A899CF1}"/>
              </a:ext>
            </a:extLst>
          </p:cNvPr>
          <p:cNvSpPr/>
          <p:nvPr/>
        </p:nvSpPr>
        <p:spPr>
          <a:xfrm>
            <a:off x="3453064" y="3466597"/>
            <a:ext cx="2358189" cy="13219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>
                <a:solidFill>
                  <a:schemeClr val="tx1"/>
                </a:solidFill>
              </a:rPr>
              <a:t>Source:</a:t>
            </a:r>
          </a:p>
          <a:p>
            <a:pPr lvl="0"/>
            <a:r>
              <a:rPr lang="en-US" dirty="0">
                <a:solidFill>
                  <a:schemeClr val="tx1"/>
                </a:solidFill>
              </a:rPr>
              <a:t>Open Data Pakistan, Crunchbase, Ministry of planning &amp; Development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DD10F22-30F7-BFCC-9CA4-300CFE1539A4}"/>
              </a:ext>
            </a:extLst>
          </p:cNvPr>
          <p:cNvSpPr/>
          <p:nvPr/>
        </p:nvSpPr>
        <p:spPr>
          <a:xfrm>
            <a:off x="6623385" y="3021430"/>
            <a:ext cx="1612231" cy="1115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Type:</a:t>
            </a:r>
            <a:r>
              <a:rPr lang="en-US" dirty="0">
                <a:solidFill>
                  <a:schemeClr val="tx1"/>
                </a:solidFill>
              </a:rPr>
              <a:t> Secondary data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>
          <a:extLst>
            <a:ext uri="{FF2B5EF4-FFF2-40B4-BE49-F238E27FC236}">
              <a16:creationId xmlns:a16="http://schemas.microsoft.com/office/drawing/2014/main" id="{52D5304B-B322-67D2-DA3D-E39814612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p32">
            <a:extLst>
              <a:ext uri="{FF2B5EF4-FFF2-40B4-BE49-F238E27FC236}">
                <a16:creationId xmlns:a16="http://schemas.microsoft.com/office/drawing/2014/main" id="{9A1FF007-14F2-F0D8-9471-458B8AAC3F0F}"/>
              </a:ext>
            </a:extLst>
          </p:cNvPr>
          <p:cNvSpPr/>
          <p:nvPr/>
        </p:nvSpPr>
        <p:spPr>
          <a:xfrm>
            <a:off x="7326497" y="-644372"/>
            <a:ext cx="2187200" cy="2575531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A05C3A3-76FC-4E5B-12CC-DA2B20FA31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267589"/>
              </p:ext>
            </p:extLst>
          </p:nvPr>
        </p:nvGraphicFramePr>
        <p:xfrm>
          <a:off x="517359" y="208304"/>
          <a:ext cx="8193504" cy="4726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Arc 2">
            <a:extLst>
              <a:ext uri="{FF2B5EF4-FFF2-40B4-BE49-F238E27FC236}">
                <a16:creationId xmlns:a16="http://schemas.microsoft.com/office/drawing/2014/main" id="{47E221A4-6CCF-D759-EDE0-786B7B74B662}"/>
              </a:ext>
            </a:extLst>
          </p:cNvPr>
          <p:cNvSpPr/>
          <p:nvPr/>
        </p:nvSpPr>
        <p:spPr>
          <a:xfrm rot="9499433" flipV="1">
            <a:off x="2362227" y="1256742"/>
            <a:ext cx="1499384" cy="1157317"/>
          </a:xfrm>
          <a:prstGeom prst="arc">
            <a:avLst>
              <a:gd name="adj1" fmla="val 16185094"/>
              <a:gd name="adj2" fmla="val 2089833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7AB373-7BBF-B13C-F5BE-4E097BD111A3}"/>
              </a:ext>
            </a:extLst>
          </p:cNvPr>
          <p:cNvSpPr txBox="1"/>
          <p:nvPr/>
        </p:nvSpPr>
        <p:spPr>
          <a:xfrm>
            <a:off x="1467853" y="1191126"/>
            <a:ext cx="1215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Dependent Variables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C23989C-F316-D584-7190-C4A752958FCD}"/>
              </a:ext>
            </a:extLst>
          </p:cNvPr>
          <p:cNvSpPr/>
          <p:nvPr/>
        </p:nvSpPr>
        <p:spPr>
          <a:xfrm>
            <a:off x="4259179" y="208303"/>
            <a:ext cx="3152274" cy="3445711"/>
          </a:xfrm>
          <a:prstGeom prst="arc">
            <a:avLst>
              <a:gd name="adj1" fmla="val 13661190"/>
              <a:gd name="adj2" fmla="val 136692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36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E68F74C-9339-77B1-EF6B-15E0032A3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12678"/>
            <a:ext cx="7704000" cy="572700"/>
          </a:xfrm>
        </p:spPr>
        <p:txBody>
          <a:bodyPr/>
          <a:lstStyle/>
          <a:p>
            <a:pPr algn="ctr"/>
            <a:r>
              <a:rPr lang="en-US" dirty="0"/>
              <a:t>Literature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0AF66C-6FB0-89DA-9008-615A8EB67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607708"/>
              </p:ext>
            </p:extLst>
          </p:nvPr>
        </p:nvGraphicFramePr>
        <p:xfrm>
          <a:off x="481263" y="1203353"/>
          <a:ext cx="8181474" cy="3258185"/>
        </p:xfrm>
        <a:graphic>
          <a:graphicData uri="http://schemas.openxmlformats.org/drawingml/2006/table">
            <a:tbl>
              <a:tblPr firstRow="1" bandRow="1">
                <a:tableStyleId>{A407EE39-42F6-4224-913A-FE5B60889325}</a:tableStyleId>
              </a:tblPr>
              <a:tblGrid>
                <a:gridCol w="4018547">
                  <a:extLst>
                    <a:ext uri="{9D8B030D-6E8A-4147-A177-3AD203B41FA5}">
                      <a16:colId xmlns:a16="http://schemas.microsoft.com/office/drawing/2014/main" val="72494371"/>
                    </a:ext>
                  </a:extLst>
                </a:gridCol>
                <a:gridCol w="4162927">
                  <a:extLst>
                    <a:ext uri="{9D8B030D-6E8A-4147-A177-3AD203B41FA5}">
                      <a16:colId xmlns:a16="http://schemas.microsoft.com/office/drawing/2014/main" val="2639622137"/>
                    </a:ext>
                  </a:extLst>
                </a:gridCol>
              </a:tblGrid>
              <a:tr h="4301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1" dirty="0"/>
                        <a:t>Bruckner et al.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1" dirty="0"/>
                        <a:t>Schulte-Althoff et al. (2021)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96206"/>
                  </a:ext>
                </a:extLst>
              </a:tr>
              <a:tr h="2707930">
                <a:tc>
                  <a:txBody>
                    <a:bodyPr/>
                    <a:lstStyle/>
                    <a:p>
                      <a:pPr latinLnBrk="1">
                        <a:lnSpc>
                          <a:spcPct val="125000"/>
                        </a:lnSpc>
                      </a:pPr>
                      <a:r>
                        <a:rPr lang="en-US" sz="1800" b="1" dirty="0"/>
                        <a:t>Method: </a:t>
                      </a:r>
                      <a:r>
                        <a:rPr lang="en-US" sz="1800" dirty="0"/>
                        <a:t>Qualitative narrative </a:t>
                      </a:r>
                    </a:p>
                    <a:p>
                      <a:pPr latinLnBrk="1">
                        <a:lnSpc>
                          <a:spcPct val="125000"/>
                        </a:lnSpc>
                      </a:pPr>
                      <a:r>
                        <a:rPr lang="en-US" sz="1800" dirty="0"/>
                        <a:t>analysis of overfunded failed </a:t>
                      </a:r>
                    </a:p>
                    <a:p>
                      <a:pPr latinLnBrk="1">
                        <a:lnSpc>
                          <a:spcPct val="125000"/>
                        </a:lnSpc>
                      </a:pPr>
                      <a:r>
                        <a:rPr lang="en-US" sz="1800" dirty="0"/>
                        <a:t>startups</a:t>
                      </a:r>
                    </a:p>
                    <a:p>
                      <a:pPr latinLnBrk="1">
                        <a:lnSpc>
                          <a:spcPct val="125000"/>
                        </a:lnSpc>
                      </a:pPr>
                      <a:r>
                        <a:rPr lang="en-US" sz="1800" b="1" dirty="0"/>
                        <a:t>Finding: </a:t>
                      </a:r>
                      <a:r>
                        <a:rPr lang="en-US" sz="1800" dirty="0"/>
                        <a:t>Abundant resources can </a:t>
                      </a:r>
                    </a:p>
                    <a:p>
                      <a:pPr latinLnBrk="1">
                        <a:lnSpc>
                          <a:spcPct val="125000"/>
                        </a:lnSpc>
                      </a:pPr>
                      <a:r>
                        <a:rPr lang="en-US" sz="1800" dirty="0"/>
                        <a:t>paradoxically accelerate failure</a:t>
                      </a:r>
                    </a:p>
                    <a:p>
                      <a:pPr latinLnBrk="1">
                        <a:lnSpc>
                          <a:spcPct val="125000"/>
                        </a:lnSpc>
                      </a:pPr>
                      <a:r>
                        <a:rPr lang="en-US" sz="1800" b="1" dirty="0"/>
                        <a:t>Aligns with </a:t>
                      </a:r>
                      <a:r>
                        <a:rPr lang="en-US" sz="1800" dirty="0"/>
                        <a:t>my "funding paradox" </a:t>
                      </a:r>
                    </a:p>
                    <a:p>
                      <a:pPr latinLnBrk="1">
                        <a:lnSpc>
                          <a:spcPct val="125000"/>
                        </a:lnSpc>
                      </a:pPr>
                      <a:r>
                        <a:rPr lang="en-US" sz="1800" dirty="0"/>
                        <a:t>i.e. more funding = higher closure </a:t>
                      </a:r>
                    </a:p>
                    <a:p>
                      <a:pPr latinLnBrk="1">
                        <a:lnSpc>
                          <a:spcPct val="125000"/>
                        </a:lnSpc>
                      </a:pPr>
                      <a:r>
                        <a:rPr lang="en-US" sz="1800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25000"/>
                        </a:lnSpc>
                      </a:pPr>
                      <a:r>
                        <a:rPr lang="en-US" sz="1800" b="1" dirty="0"/>
                        <a:t>Method: </a:t>
                      </a:r>
                      <a:r>
                        <a:rPr lang="en-US" sz="1800" dirty="0"/>
                        <a:t>Quantitative analysis of AI, </a:t>
                      </a:r>
                    </a:p>
                    <a:p>
                      <a:pPr latinLnBrk="1">
                        <a:lnSpc>
                          <a:spcPct val="125000"/>
                        </a:lnSpc>
                      </a:pPr>
                      <a:r>
                        <a:rPr lang="en-US" sz="1800" dirty="0"/>
                        <a:t>platform, and service startups</a:t>
                      </a:r>
                    </a:p>
                    <a:p>
                      <a:pPr latinLnBrk="1">
                        <a:lnSpc>
                          <a:spcPct val="125000"/>
                        </a:lnSpc>
                      </a:pPr>
                      <a:r>
                        <a:rPr lang="en-US" sz="1800" b="1" dirty="0"/>
                        <a:t>Finding: </a:t>
                      </a:r>
                      <a:r>
                        <a:rPr lang="en-US" sz="1800" dirty="0"/>
                        <a:t>Revenue scales </a:t>
                      </a:r>
                      <a:r>
                        <a:rPr lang="en-US" sz="1800" dirty="0" err="1"/>
                        <a:t>sublinearly</a:t>
                      </a:r>
                      <a:r>
                        <a:rPr lang="en-US" sz="1800" dirty="0"/>
                        <a:t> </a:t>
                      </a:r>
                    </a:p>
                    <a:p>
                      <a:pPr latinLnBrk="1">
                        <a:lnSpc>
                          <a:spcPct val="125000"/>
                        </a:lnSpc>
                      </a:pPr>
                      <a:r>
                        <a:rPr lang="en-US" sz="1800" dirty="0"/>
                        <a:t>with employee count</a:t>
                      </a:r>
                    </a:p>
                    <a:p>
                      <a:pPr latinLnBrk="1">
                        <a:lnSpc>
                          <a:spcPct val="125000"/>
                        </a:lnSpc>
                      </a:pPr>
                      <a:r>
                        <a:rPr lang="en-US" sz="1800" b="1" dirty="0"/>
                        <a:t>Aligns with </a:t>
                      </a:r>
                      <a:r>
                        <a:rPr lang="en-US" sz="1800" dirty="0"/>
                        <a:t>my linear regression i.e. </a:t>
                      </a:r>
                    </a:p>
                    <a:p>
                      <a:pPr latinLnBrk="1">
                        <a:lnSpc>
                          <a:spcPct val="125000"/>
                        </a:lnSpc>
                      </a:pPr>
                      <a:r>
                        <a:rPr lang="en-US" sz="1800" dirty="0"/>
                        <a:t>each employee adds 0.4% revenue.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316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024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>
          <a:extLst>
            <a:ext uri="{FF2B5EF4-FFF2-40B4-BE49-F238E27FC236}">
              <a16:creationId xmlns:a16="http://schemas.microsoft.com/office/drawing/2014/main" id="{98C88F77-DE24-B5DE-304F-3023745B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p32">
            <a:extLst>
              <a:ext uri="{FF2B5EF4-FFF2-40B4-BE49-F238E27FC236}">
                <a16:creationId xmlns:a16="http://schemas.microsoft.com/office/drawing/2014/main" id="{670DE435-E53B-F21C-FB47-2457ED1BF3CE}"/>
              </a:ext>
            </a:extLst>
          </p:cNvPr>
          <p:cNvSpPr/>
          <p:nvPr/>
        </p:nvSpPr>
        <p:spPr>
          <a:xfrm>
            <a:off x="7326497" y="-644372"/>
            <a:ext cx="2187200" cy="2575531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37E47516-299D-872C-3FAE-1EB8E6848798}"/>
              </a:ext>
            </a:extLst>
          </p:cNvPr>
          <p:cNvSpPr/>
          <p:nvPr/>
        </p:nvSpPr>
        <p:spPr>
          <a:xfrm>
            <a:off x="4259179" y="208303"/>
            <a:ext cx="3152274" cy="3445711"/>
          </a:xfrm>
          <a:prstGeom prst="arc">
            <a:avLst>
              <a:gd name="adj1" fmla="val 13661190"/>
              <a:gd name="adj2" fmla="val 136692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4AC3A7F-6931-D710-BC69-C6B84F9E8A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5022521"/>
              </p:ext>
            </p:extLst>
          </p:nvPr>
        </p:nvGraphicFramePr>
        <p:xfrm>
          <a:off x="599571" y="417339"/>
          <a:ext cx="7820526" cy="45178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34267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45734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SzPts val="1800"/>
            </a:pPr>
            <a:r>
              <a:rPr lang="en-US" sz="2400" dirty="0"/>
              <a:t>Descriptive Statistics of Continuous Variables</a:t>
            </a:r>
            <a:endParaRPr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DCFB8A-318F-371E-A7C8-786CA58DE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605131"/>
              </p:ext>
            </p:extLst>
          </p:nvPr>
        </p:nvGraphicFramePr>
        <p:xfrm>
          <a:off x="719998" y="902368"/>
          <a:ext cx="7704001" cy="3796110"/>
        </p:xfrm>
        <a:graphic>
          <a:graphicData uri="http://schemas.openxmlformats.org/drawingml/2006/table">
            <a:tbl>
              <a:tblPr firstRow="1" firstCol="1" bandRow="1">
                <a:tableStyleId>{A407EE39-42F6-4224-913A-FE5B60889325}</a:tableStyleId>
              </a:tblPr>
              <a:tblGrid>
                <a:gridCol w="1062313">
                  <a:extLst>
                    <a:ext uri="{9D8B030D-6E8A-4147-A177-3AD203B41FA5}">
                      <a16:colId xmlns:a16="http://schemas.microsoft.com/office/drawing/2014/main" val="3049022041"/>
                    </a:ext>
                  </a:extLst>
                </a:gridCol>
                <a:gridCol w="700769">
                  <a:extLst>
                    <a:ext uri="{9D8B030D-6E8A-4147-A177-3AD203B41FA5}">
                      <a16:colId xmlns:a16="http://schemas.microsoft.com/office/drawing/2014/main" val="757062886"/>
                    </a:ext>
                  </a:extLst>
                </a:gridCol>
                <a:gridCol w="1124802">
                  <a:extLst>
                    <a:ext uri="{9D8B030D-6E8A-4147-A177-3AD203B41FA5}">
                      <a16:colId xmlns:a16="http://schemas.microsoft.com/office/drawing/2014/main" val="674388349"/>
                    </a:ext>
                  </a:extLst>
                </a:gridCol>
                <a:gridCol w="1697023">
                  <a:extLst>
                    <a:ext uri="{9D8B030D-6E8A-4147-A177-3AD203B41FA5}">
                      <a16:colId xmlns:a16="http://schemas.microsoft.com/office/drawing/2014/main" val="3562901288"/>
                    </a:ext>
                  </a:extLst>
                </a:gridCol>
                <a:gridCol w="1073918">
                  <a:extLst>
                    <a:ext uri="{9D8B030D-6E8A-4147-A177-3AD203B41FA5}">
                      <a16:colId xmlns:a16="http://schemas.microsoft.com/office/drawing/2014/main" val="3055621108"/>
                    </a:ext>
                  </a:extLst>
                </a:gridCol>
                <a:gridCol w="1062313">
                  <a:extLst>
                    <a:ext uri="{9D8B030D-6E8A-4147-A177-3AD203B41FA5}">
                      <a16:colId xmlns:a16="http://schemas.microsoft.com/office/drawing/2014/main" val="633854972"/>
                    </a:ext>
                  </a:extLst>
                </a:gridCol>
                <a:gridCol w="982863">
                  <a:extLst>
                    <a:ext uri="{9D8B030D-6E8A-4147-A177-3AD203B41FA5}">
                      <a16:colId xmlns:a16="http://schemas.microsoft.com/office/drawing/2014/main" val="2519678332"/>
                    </a:ext>
                  </a:extLst>
                </a:gridCol>
              </a:tblGrid>
              <a:tr h="6326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Variable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Min</a:t>
                      </a:r>
                      <a:endParaRPr lang="en-US" sz="12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Max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Average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Std. Deviation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Skewness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Kurtosis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18194779"/>
                  </a:ext>
                </a:extLst>
              </a:tr>
              <a:tr h="6326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Annual Growth (%)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-96.00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243.00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Mean = 15.02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44.65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2.234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7.812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05714896"/>
                  </a:ext>
                </a:extLst>
              </a:tr>
              <a:tr h="6326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Revenue ($1000)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35.00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120,000.00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Mean = 4,593.42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10,733.71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8.692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90.859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40385423"/>
                  </a:ext>
                </a:extLst>
              </a:tr>
              <a:tr h="6326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Employee Count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666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Mode = 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91.13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3.766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17.548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0824362"/>
                  </a:ext>
                </a:extLst>
              </a:tr>
              <a:tr h="6326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Total Funding ($1000)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282,000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Mean = 7,387.50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27,507.95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7.649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69.491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18557988"/>
                  </a:ext>
                </a:extLst>
              </a:tr>
              <a:tr h="6326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Funding Rounds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6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Mean = 0.78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1.15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1.909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4.210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842452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3E413-732B-55D4-835D-EE8DF653C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73" y="552450"/>
            <a:ext cx="7964905" cy="715500"/>
          </a:xfrm>
        </p:spPr>
        <p:txBody>
          <a:bodyPr/>
          <a:lstStyle/>
          <a:p>
            <a:r>
              <a:rPr lang="en-US" sz="3200" dirty="0"/>
              <a:t>Distribution of Annual Growth Rates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AE032C-4F6C-DC6D-3B8F-8BF50CC579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6"/>
          <a:stretch>
            <a:fillRect/>
          </a:stretch>
        </p:blipFill>
        <p:spPr>
          <a:xfrm>
            <a:off x="962526" y="1383632"/>
            <a:ext cx="7327231" cy="33688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97501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CA030-91DD-325A-1234-EFCB4E4DD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2ED41-E719-5CC1-E317-A8C7FDD2D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945" y="552450"/>
            <a:ext cx="8500056" cy="715500"/>
          </a:xfrm>
        </p:spPr>
        <p:txBody>
          <a:bodyPr/>
          <a:lstStyle/>
          <a:p>
            <a:r>
              <a:rPr lang="en-US" sz="3200" dirty="0"/>
              <a:t>Average Annual Growth by Startup size 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B60A2FD-86F7-2DA8-E80A-A6A8A5D826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2527134"/>
              </p:ext>
            </p:extLst>
          </p:nvPr>
        </p:nvGraphicFramePr>
        <p:xfrm>
          <a:off x="845243" y="1342871"/>
          <a:ext cx="7719208" cy="3499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68519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3191-866D-CD58-94A7-59765ADEC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242" y="240632"/>
            <a:ext cx="7565857" cy="2033336"/>
          </a:xfrm>
        </p:spPr>
        <p:txBody>
          <a:bodyPr/>
          <a:lstStyle/>
          <a:p>
            <a:r>
              <a:rPr lang="en-US" sz="3200" dirty="0"/>
              <a:t>Distribution Fitting using </a:t>
            </a:r>
            <a:r>
              <a:rPr lang="en-US" sz="3200" dirty="0" err="1"/>
              <a:t>EasyFit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0" dirty="0"/>
              <a:t>H</a:t>
            </a:r>
            <a:r>
              <a:rPr lang="en-US" sz="1600" b="0" baseline="-25000" dirty="0"/>
              <a:t>0</a:t>
            </a:r>
            <a:r>
              <a:rPr lang="en-US" sz="1600" b="0" dirty="0"/>
              <a:t>: The data follow the specified theoretical distribution. </a:t>
            </a:r>
            <a:br>
              <a:rPr lang="en-US" sz="1600" b="0" dirty="0"/>
            </a:br>
            <a:r>
              <a:rPr lang="en-US" sz="1600" b="0" dirty="0"/>
              <a:t>H</a:t>
            </a:r>
            <a:r>
              <a:rPr lang="en-US" sz="1600" b="0" baseline="-25000" dirty="0"/>
              <a:t>1</a:t>
            </a:r>
            <a:r>
              <a:rPr lang="en-US" sz="1600" b="0" dirty="0"/>
              <a:t>: The data do not follow the specified theoretical distribution.</a:t>
            </a:r>
            <a:endParaRPr lang="en-US" b="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EEFC68A-F4A2-6195-28F2-2A7E048EF4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8117897"/>
              </p:ext>
            </p:extLst>
          </p:nvPr>
        </p:nvGraphicFramePr>
        <p:xfrm>
          <a:off x="854242" y="2093494"/>
          <a:ext cx="7565858" cy="2707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3A3566-5B41-F2A2-E0E8-FDCAB07E3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673782"/>
              </p:ext>
            </p:extLst>
          </p:nvPr>
        </p:nvGraphicFramePr>
        <p:xfrm>
          <a:off x="1130967" y="3206416"/>
          <a:ext cx="3019928" cy="1524000"/>
        </p:xfrm>
        <a:graphic>
          <a:graphicData uri="http://schemas.openxmlformats.org/drawingml/2006/table">
            <a:tbl>
              <a:tblPr firstRow="1" bandRow="1">
                <a:tableStyleId>{A407EE39-42F6-4224-913A-FE5B60889325}</a:tableStyleId>
              </a:tblPr>
              <a:tblGrid>
                <a:gridCol w="1509964">
                  <a:extLst>
                    <a:ext uri="{9D8B030D-6E8A-4147-A177-3AD203B41FA5}">
                      <a16:colId xmlns:a16="http://schemas.microsoft.com/office/drawing/2014/main" val="465156397"/>
                    </a:ext>
                  </a:extLst>
                </a:gridCol>
                <a:gridCol w="1509964">
                  <a:extLst>
                    <a:ext uri="{9D8B030D-6E8A-4147-A177-3AD203B41FA5}">
                      <a16:colId xmlns:a16="http://schemas.microsoft.com/office/drawing/2014/main" val="2303277000"/>
                    </a:ext>
                  </a:extLst>
                </a:gridCol>
              </a:tblGrid>
              <a:tr h="286352">
                <a:tc>
                  <a:txBody>
                    <a:bodyPr/>
                    <a:lstStyle/>
                    <a:p>
                      <a:r>
                        <a:rPr lang="en-US" b="1" dirty="0"/>
                        <a:t>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Test Statistic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131372"/>
                  </a:ext>
                </a:extLst>
              </a:tr>
              <a:tr h="286352">
                <a:tc>
                  <a:txBody>
                    <a:bodyPr/>
                    <a:lstStyle/>
                    <a:p>
                      <a:r>
                        <a:rPr lang="en-US" dirty="0"/>
                        <a:t>Weibull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0.07711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646554"/>
                  </a:ext>
                </a:extLst>
              </a:tr>
              <a:tr h="286352">
                <a:tc>
                  <a:txBody>
                    <a:bodyPr/>
                    <a:lstStyle/>
                    <a:p>
                      <a:r>
                        <a:rPr lang="en-US" dirty="0"/>
                        <a:t>Pareto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0.07895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528256"/>
                  </a:ext>
                </a:extLst>
              </a:tr>
              <a:tr h="286352">
                <a:tc>
                  <a:txBody>
                    <a:bodyPr/>
                    <a:lstStyle/>
                    <a:p>
                      <a:r>
                        <a:rPr lang="en-US" dirty="0"/>
                        <a:t>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0.11582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20357"/>
                  </a:ext>
                </a:extLst>
              </a:tr>
              <a:tr h="286352">
                <a:tc>
                  <a:txBody>
                    <a:bodyPr/>
                    <a:lstStyle/>
                    <a:p>
                      <a:r>
                        <a:rPr lang="en-US" dirty="0"/>
                        <a:t>Lognormal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0.08694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6901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A306FA-DA86-6561-AB06-99D389C2F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521889"/>
              </p:ext>
            </p:extLst>
          </p:nvPr>
        </p:nvGraphicFramePr>
        <p:xfrm>
          <a:off x="5125450" y="3206414"/>
          <a:ext cx="3019928" cy="1524000"/>
        </p:xfrm>
        <a:graphic>
          <a:graphicData uri="http://schemas.openxmlformats.org/drawingml/2006/table">
            <a:tbl>
              <a:tblPr firstRow="1" bandRow="1">
                <a:tableStyleId>{A407EE39-42F6-4224-913A-FE5B60889325}</a:tableStyleId>
              </a:tblPr>
              <a:tblGrid>
                <a:gridCol w="1509964">
                  <a:extLst>
                    <a:ext uri="{9D8B030D-6E8A-4147-A177-3AD203B41FA5}">
                      <a16:colId xmlns:a16="http://schemas.microsoft.com/office/drawing/2014/main" val="465156397"/>
                    </a:ext>
                  </a:extLst>
                </a:gridCol>
                <a:gridCol w="1509964">
                  <a:extLst>
                    <a:ext uri="{9D8B030D-6E8A-4147-A177-3AD203B41FA5}">
                      <a16:colId xmlns:a16="http://schemas.microsoft.com/office/drawing/2014/main" val="2303277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b="1" dirty="0"/>
                        <a:t>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Test Statistic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13137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Weibull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0.05428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64655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Pareto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0.06942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52825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0.14846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2035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Lognormal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0.08930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69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645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16EFA1E-BC56-3840-F201-85458768E2C7}"/>
              </a:ext>
            </a:extLst>
          </p:cNvPr>
          <p:cNvSpPr txBox="1">
            <a:spLocks/>
          </p:cNvSpPr>
          <p:nvPr/>
        </p:nvSpPr>
        <p:spPr>
          <a:xfrm>
            <a:off x="467337" y="1215190"/>
            <a:ext cx="7704000" cy="362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139700" indent="0"/>
            <a:r>
              <a:rPr lang="en-US" sz="1900" dirty="0"/>
              <a:t>Larger startups have significantly more revenue, funding, and growth</a:t>
            </a:r>
          </a:p>
          <a:p>
            <a:pPr marL="139700" indent="0"/>
            <a:r>
              <a:rPr lang="en-US" sz="1900" dirty="0"/>
              <a:t>Size is a meaningful factor in distinguishing startup performance</a:t>
            </a:r>
          </a:p>
          <a:p>
            <a:pPr marL="139700" indent="0"/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36ABF4-F993-5E62-70F3-5B4D2ABCF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060211"/>
              </p:ext>
            </p:extLst>
          </p:nvPr>
        </p:nvGraphicFramePr>
        <p:xfrm>
          <a:off x="719999" y="2117558"/>
          <a:ext cx="6835832" cy="2482804"/>
        </p:xfrm>
        <a:graphic>
          <a:graphicData uri="http://schemas.openxmlformats.org/drawingml/2006/table">
            <a:tbl>
              <a:tblPr firstRow="1" bandRow="1">
                <a:tableStyleId>{A407EE39-42F6-4224-913A-FE5B60889325}</a:tableStyleId>
              </a:tblPr>
              <a:tblGrid>
                <a:gridCol w="1708958">
                  <a:extLst>
                    <a:ext uri="{9D8B030D-6E8A-4147-A177-3AD203B41FA5}">
                      <a16:colId xmlns:a16="http://schemas.microsoft.com/office/drawing/2014/main" val="3514528496"/>
                    </a:ext>
                  </a:extLst>
                </a:gridCol>
                <a:gridCol w="1708958">
                  <a:extLst>
                    <a:ext uri="{9D8B030D-6E8A-4147-A177-3AD203B41FA5}">
                      <a16:colId xmlns:a16="http://schemas.microsoft.com/office/drawing/2014/main" val="3246067168"/>
                    </a:ext>
                  </a:extLst>
                </a:gridCol>
                <a:gridCol w="1708958">
                  <a:extLst>
                    <a:ext uri="{9D8B030D-6E8A-4147-A177-3AD203B41FA5}">
                      <a16:colId xmlns:a16="http://schemas.microsoft.com/office/drawing/2014/main" val="4170736762"/>
                    </a:ext>
                  </a:extLst>
                </a:gridCol>
                <a:gridCol w="1708958">
                  <a:extLst>
                    <a:ext uri="{9D8B030D-6E8A-4147-A177-3AD203B41FA5}">
                      <a16:colId xmlns:a16="http://schemas.microsoft.com/office/drawing/2014/main" val="2561512963"/>
                    </a:ext>
                  </a:extLst>
                </a:gridCol>
              </a:tblGrid>
              <a:tr h="62070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244998"/>
                  </a:ext>
                </a:extLst>
              </a:tr>
              <a:tr h="6207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Revenue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18.819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&lt; 0.001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Significant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494651"/>
                  </a:ext>
                </a:extLst>
              </a:tr>
              <a:tr h="6207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Total Funding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7.817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Significant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032423"/>
                  </a:ext>
                </a:extLst>
              </a:tr>
              <a:tr h="6207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Annual Growth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5.371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0.006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Significant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095952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E1BA152D-479B-D645-7BF9-923893478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716" y="310458"/>
            <a:ext cx="7704000" cy="668400"/>
          </a:xfrm>
        </p:spPr>
        <p:txBody>
          <a:bodyPr/>
          <a:lstStyle/>
          <a:p>
            <a:pPr algn="ctr"/>
            <a:r>
              <a:rPr lang="en-US" dirty="0"/>
              <a:t>ANOVA by Startup Size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9">
          <a:extLst>
            <a:ext uri="{FF2B5EF4-FFF2-40B4-BE49-F238E27FC236}">
              <a16:creationId xmlns:a16="http://schemas.microsoft.com/office/drawing/2014/main" id="{59A6E3B4-0E39-25DC-A5A9-54CF60C17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30597C0-AB5F-611A-D5CD-74D498E17B8C}"/>
              </a:ext>
            </a:extLst>
          </p:cNvPr>
          <p:cNvSpPr txBox="1">
            <a:spLocks/>
          </p:cNvSpPr>
          <p:nvPr/>
        </p:nvSpPr>
        <p:spPr>
          <a:xfrm>
            <a:off x="467337" y="1215190"/>
            <a:ext cx="7704000" cy="362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r>
              <a:rPr lang="en-US" sz="1900" dirty="0"/>
              <a:t>Revenue and funding rounds vary significantly by industry</a:t>
            </a:r>
          </a:p>
          <a:p>
            <a:r>
              <a:rPr lang="en-US" sz="1900" dirty="0"/>
              <a:t>Total funding shows weak industry influence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5BDF78E-0758-3CDD-C2CB-621FF80D5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904925"/>
              </p:ext>
            </p:extLst>
          </p:nvPr>
        </p:nvGraphicFramePr>
        <p:xfrm>
          <a:off x="719999" y="2117558"/>
          <a:ext cx="6835832" cy="2482804"/>
        </p:xfrm>
        <a:graphic>
          <a:graphicData uri="http://schemas.openxmlformats.org/drawingml/2006/table">
            <a:tbl>
              <a:tblPr firstRow="1" bandRow="1">
                <a:tableStyleId>{A407EE39-42F6-4224-913A-FE5B60889325}</a:tableStyleId>
              </a:tblPr>
              <a:tblGrid>
                <a:gridCol w="1708958">
                  <a:extLst>
                    <a:ext uri="{9D8B030D-6E8A-4147-A177-3AD203B41FA5}">
                      <a16:colId xmlns:a16="http://schemas.microsoft.com/office/drawing/2014/main" val="3514528496"/>
                    </a:ext>
                  </a:extLst>
                </a:gridCol>
                <a:gridCol w="1708958">
                  <a:extLst>
                    <a:ext uri="{9D8B030D-6E8A-4147-A177-3AD203B41FA5}">
                      <a16:colId xmlns:a16="http://schemas.microsoft.com/office/drawing/2014/main" val="3246067168"/>
                    </a:ext>
                  </a:extLst>
                </a:gridCol>
                <a:gridCol w="1708958">
                  <a:extLst>
                    <a:ext uri="{9D8B030D-6E8A-4147-A177-3AD203B41FA5}">
                      <a16:colId xmlns:a16="http://schemas.microsoft.com/office/drawing/2014/main" val="4170736762"/>
                    </a:ext>
                  </a:extLst>
                </a:gridCol>
                <a:gridCol w="1708958">
                  <a:extLst>
                    <a:ext uri="{9D8B030D-6E8A-4147-A177-3AD203B41FA5}">
                      <a16:colId xmlns:a16="http://schemas.microsoft.com/office/drawing/2014/main" val="2561512963"/>
                    </a:ext>
                  </a:extLst>
                </a:gridCol>
              </a:tblGrid>
              <a:tr h="62070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244998"/>
                  </a:ext>
                </a:extLst>
              </a:tr>
              <a:tr h="6207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Revenue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4.907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&lt; 0.001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Significant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494651"/>
                  </a:ext>
                </a:extLst>
              </a:tr>
              <a:tr h="62070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Total Funding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1.769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0.065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Significant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032423"/>
                  </a:ext>
                </a:extLst>
              </a:tr>
              <a:tr h="6207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Funding Rounds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3.142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Significant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095952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0080E900-A99D-466B-CE78-772D034D6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716" y="310458"/>
            <a:ext cx="7220842" cy="668400"/>
          </a:xfrm>
        </p:spPr>
        <p:txBody>
          <a:bodyPr/>
          <a:lstStyle/>
          <a:p>
            <a:pPr algn="ctr"/>
            <a:r>
              <a:rPr lang="en-US" dirty="0"/>
              <a:t>ANOVA by Industry</a:t>
            </a:r>
          </a:p>
        </p:txBody>
      </p:sp>
    </p:spTree>
    <p:extLst>
      <p:ext uri="{BB962C8B-B14F-4D97-AF65-F5344CB8AC3E}">
        <p14:creationId xmlns:p14="http://schemas.microsoft.com/office/powerpoint/2010/main" val="2916329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9">
          <a:extLst>
            <a:ext uri="{FF2B5EF4-FFF2-40B4-BE49-F238E27FC236}">
              <a16:creationId xmlns:a16="http://schemas.microsoft.com/office/drawing/2014/main" id="{731E5A90-2B56-BE6B-4542-6869CA50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CCA1210-F6B8-DBB0-9870-57E2580A9DD4}"/>
              </a:ext>
            </a:extLst>
          </p:cNvPr>
          <p:cNvSpPr txBox="1">
            <a:spLocks/>
          </p:cNvSpPr>
          <p:nvPr/>
        </p:nvSpPr>
        <p:spPr>
          <a:xfrm>
            <a:off x="467337" y="978858"/>
            <a:ext cx="7704000" cy="3857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r>
              <a:rPr lang="en-US" sz="1800" dirty="0"/>
              <a:t>Active startups grow significantly faster regardless of funding.</a:t>
            </a:r>
          </a:p>
          <a:p>
            <a:r>
              <a:rPr lang="en-US" sz="1800" dirty="0"/>
              <a:t>The growth gap is wider for funded startups than zero-funded ones with very</a:t>
            </a:r>
          </a:p>
          <a:p>
            <a:r>
              <a:rPr lang="en-US" sz="1800" dirty="0"/>
              <a:t>large effect sizes (d = 1.50).</a:t>
            </a:r>
          </a:p>
          <a:p>
            <a:endParaRPr lang="en-US" sz="19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4306E6F-136B-68A0-CFC1-92133FB75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716" y="310458"/>
            <a:ext cx="7220842" cy="668400"/>
          </a:xfrm>
        </p:spPr>
        <p:txBody>
          <a:bodyPr/>
          <a:lstStyle/>
          <a:p>
            <a:pPr algn="ctr"/>
            <a:r>
              <a:rPr lang="en-US" dirty="0"/>
              <a:t>INDEPENDENT T-Test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C15EB0-0653-1A82-2FF1-10557AB56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549152"/>
              </p:ext>
            </p:extLst>
          </p:nvPr>
        </p:nvGraphicFramePr>
        <p:xfrm>
          <a:off x="733927" y="2067762"/>
          <a:ext cx="7339263" cy="2510412"/>
        </p:xfrm>
        <a:graphic>
          <a:graphicData uri="http://schemas.openxmlformats.org/drawingml/2006/table">
            <a:tbl>
              <a:tblPr firstRow="1" bandRow="1">
                <a:tableStyleId>{A407EE39-42F6-4224-913A-FE5B60889325}</a:tableStyleId>
              </a:tblPr>
              <a:tblGrid>
                <a:gridCol w="2446421">
                  <a:extLst>
                    <a:ext uri="{9D8B030D-6E8A-4147-A177-3AD203B41FA5}">
                      <a16:colId xmlns:a16="http://schemas.microsoft.com/office/drawing/2014/main" val="2557086725"/>
                    </a:ext>
                  </a:extLst>
                </a:gridCol>
                <a:gridCol w="2446421">
                  <a:extLst>
                    <a:ext uri="{9D8B030D-6E8A-4147-A177-3AD203B41FA5}">
                      <a16:colId xmlns:a16="http://schemas.microsoft.com/office/drawing/2014/main" val="3845895949"/>
                    </a:ext>
                  </a:extLst>
                </a:gridCol>
                <a:gridCol w="2446421">
                  <a:extLst>
                    <a:ext uri="{9D8B030D-6E8A-4147-A177-3AD203B41FA5}">
                      <a16:colId xmlns:a16="http://schemas.microsoft.com/office/drawing/2014/main" val="456396859"/>
                    </a:ext>
                  </a:extLst>
                </a:gridCol>
              </a:tblGrid>
              <a:tr h="36398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Zero-Funded Startups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Funded Startups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70788"/>
                  </a:ext>
                </a:extLst>
              </a:tr>
              <a:tr h="36398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Mean Active Growth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27.78% </a:t>
                      </a:r>
                      <a:r>
                        <a:rPr lang="en-US" dirty="0"/>
                        <a:t>(n = 67) 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45.61%  </a:t>
                      </a:r>
                      <a:r>
                        <a:rPr lang="en-US" dirty="0"/>
                        <a:t>(n = 27) 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77799332"/>
                  </a:ext>
                </a:extLst>
              </a:tr>
              <a:tr h="36398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Mean Closed Growth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-16.54% </a:t>
                      </a:r>
                      <a:r>
                        <a:rPr lang="en-US" dirty="0"/>
                        <a:t>(n = 16) 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-14.38% </a:t>
                      </a:r>
                      <a:r>
                        <a:rPr lang="en-US" dirty="0"/>
                        <a:t>(n = 40) 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33215397"/>
                  </a:ext>
                </a:extLst>
              </a:tr>
              <a:tr h="36398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t-value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4.388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6.033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446869772"/>
                  </a:ext>
                </a:extLst>
              </a:tr>
              <a:tr h="36398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p-value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&lt; 0.001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&lt; 0.001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591107277"/>
                  </a:ext>
                </a:extLst>
              </a:tr>
              <a:tr h="36398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Cohen's d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1.22 (Large)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1.50 (Very Large)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11187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2157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9">
          <a:extLst>
            <a:ext uri="{FF2B5EF4-FFF2-40B4-BE49-F238E27FC236}">
              <a16:creationId xmlns:a16="http://schemas.microsoft.com/office/drawing/2014/main" id="{13981FBA-9618-1D1F-7722-ECA759D89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21DE893-FCE6-1029-176D-A741F1E80A23}"/>
              </a:ext>
            </a:extLst>
          </p:cNvPr>
          <p:cNvSpPr txBox="1">
            <a:spLocks/>
          </p:cNvSpPr>
          <p:nvPr/>
        </p:nvSpPr>
        <p:spPr>
          <a:xfrm>
            <a:off x="467337" y="978858"/>
            <a:ext cx="7704000" cy="3857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r>
              <a:rPr lang="en-US" sz="1800" dirty="0"/>
              <a:t>Startup status significantly affects the combined dependent variables (growth</a:t>
            </a:r>
          </a:p>
          <a:p>
            <a:r>
              <a:rPr lang="en-US" sz="1800" dirty="0"/>
              <a:t> and revenue)</a:t>
            </a:r>
          </a:p>
          <a:p>
            <a:r>
              <a:rPr lang="en-US" sz="1800" dirty="0"/>
              <a:t>Startup size also significantly affects the combined dependent variables</a:t>
            </a:r>
          </a:p>
          <a:p>
            <a:endParaRPr lang="en-US" sz="19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3F6048-2728-70CF-A255-00B88FC93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221" y="310458"/>
            <a:ext cx="6944116" cy="668400"/>
          </a:xfrm>
        </p:spPr>
        <p:txBody>
          <a:bodyPr/>
          <a:lstStyle/>
          <a:p>
            <a:pPr algn="ctr"/>
            <a:r>
              <a:rPr lang="en-US" sz="3200" dirty="0"/>
              <a:t>MANOVA: Multivariate Results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85A2D2-9F1F-ED65-CF4A-50B19EC64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009844"/>
              </p:ext>
            </p:extLst>
          </p:nvPr>
        </p:nvGraphicFramePr>
        <p:xfrm>
          <a:off x="770021" y="2069432"/>
          <a:ext cx="7220840" cy="2514600"/>
        </p:xfrm>
        <a:graphic>
          <a:graphicData uri="http://schemas.openxmlformats.org/drawingml/2006/table">
            <a:tbl>
              <a:tblPr firstRow="1" bandRow="1">
                <a:tableStyleId>{A407EE39-42F6-4224-913A-FE5B60889325}</a:tableStyleId>
              </a:tblPr>
              <a:tblGrid>
                <a:gridCol w="1444168">
                  <a:extLst>
                    <a:ext uri="{9D8B030D-6E8A-4147-A177-3AD203B41FA5}">
                      <a16:colId xmlns:a16="http://schemas.microsoft.com/office/drawing/2014/main" val="4026750038"/>
                    </a:ext>
                  </a:extLst>
                </a:gridCol>
                <a:gridCol w="1444168">
                  <a:extLst>
                    <a:ext uri="{9D8B030D-6E8A-4147-A177-3AD203B41FA5}">
                      <a16:colId xmlns:a16="http://schemas.microsoft.com/office/drawing/2014/main" val="1001454875"/>
                    </a:ext>
                  </a:extLst>
                </a:gridCol>
                <a:gridCol w="1444168">
                  <a:extLst>
                    <a:ext uri="{9D8B030D-6E8A-4147-A177-3AD203B41FA5}">
                      <a16:colId xmlns:a16="http://schemas.microsoft.com/office/drawing/2014/main" val="851009498"/>
                    </a:ext>
                  </a:extLst>
                </a:gridCol>
                <a:gridCol w="1444168">
                  <a:extLst>
                    <a:ext uri="{9D8B030D-6E8A-4147-A177-3AD203B41FA5}">
                      <a16:colId xmlns:a16="http://schemas.microsoft.com/office/drawing/2014/main" val="3127711631"/>
                    </a:ext>
                  </a:extLst>
                </a:gridCol>
                <a:gridCol w="1444168">
                  <a:extLst>
                    <a:ext uri="{9D8B030D-6E8A-4147-A177-3AD203B41FA5}">
                      <a16:colId xmlns:a16="http://schemas.microsoft.com/office/drawing/2014/main" val="2382755755"/>
                    </a:ext>
                  </a:extLst>
                </a:gridCol>
              </a:tblGrid>
              <a:tr h="86630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Effect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Wilks' Lambda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F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Sig.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Partial η²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378027319"/>
                  </a:ext>
                </a:extLst>
              </a:tr>
              <a:tr h="54943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Intercept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0.065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1016.621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&lt; 0.001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0.935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206920368"/>
                  </a:ext>
                </a:extLst>
              </a:tr>
              <a:tr h="54943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Status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0.856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11.923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&lt; 0.001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0.144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590918648"/>
                  </a:ext>
                </a:extLst>
              </a:tr>
              <a:tr h="54943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Size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0.776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9.604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&lt; 0.001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0.119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52245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176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9">
          <a:extLst>
            <a:ext uri="{FF2B5EF4-FFF2-40B4-BE49-F238E27FC236}">
              <a16:creationId xmlns:a16="http://schemas.microsoft.com/office/drawing/2014/main" id="{E4DE10C0-7893-7F70-B3AF-1269F0A20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5B05E7A-A6A2-76BD-5F24-A639797F62BA}"/>
              </a:ext>
            </a:extLst>
          </p:cNvPr>
          <p:cNvSpPr txBox="1">
            <a:spLocks/>
          </p:cNvSpPr>
          <p:nvPr/>
        </p:nvSpPr>
        <p:spPr>
          <a:xfrm>
            <a:off x="467337" y="978858"/>
            <a:ext cx="7704000" cy="3857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r>
              <a:rPr lang="en-US" sz="1800" dirty="0"/>
              <a:t>A startup can make decent revenue and still fail. Growth separates survivors</a:t>
            </a:r>
          </a:p>
          <a:p>
            <a:r>
              <a:rPr lang="en-US" sz="1800" dirty="0"/>
              <a:t>from failures.</a:t>
            </a:r>
          </a:p>
          <a:p>
            <a:r>
              <a:rPr lang="en-US" sz="1800" dirty="0"/>
              <a:t>Larger startups grow faster and earn more.</a:t>
            </a:r>
          </a:p>
          <a:p>
            <a:endParaRPr lang="en-US" sz="2000" dirty="0"/>
          </a:p>
          <a:p>
            <a:endParaRPr lang="en-US" sz="19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DB6635-13DE-D3BC-2104-50BAD9D7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790" y="310458"/>
            <a:ext cx="7519738" cy="668400"/>
          </a:xfrm>
        </p:spPr>
        <p:txBody>
          <a:bodyPr/>
          <a:lstStyle/>
          <a:p>
            <a:pPr algn="ctr"/>
            <a:r>
              <a:rPr lang="en-US" sz="2800" dirty="0"/>
              <a:t>MANOVA: Between-Subjects Effects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C067DD-F8E0-0F81-769D-990DF5880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045377"/>
              </p:ext>
            </p:extLst>
          </p:nvPr>
        </p:nvGraphicFramePr>
        <p:xfrm>
          <a:off x="745958" y="1923381"/>
          <a:ext cx="7425375" cy="2660652"/>
        </p:xfrm>
        <a:graphic>
          <a:graphicData uri="http://schemas.openxmlformats.org/drawingml/2006/table">
            <a:tbl>
              <a:tblPr firstRow="1" bandRow="1">
                <a:tableStyleId>{A407EE39-42F6-4224-913A-FE5B60889325}</a:tableStyleId>
              </a:tblPr>
              <a:tblGrid>
                <a:gridCol w="1485075">
                  <a:extLst>
                    <a:ext uri="{9D8B030D-6E8A-4147-A177-3AD203B41FA5}">
                      <a16:colId xmlns:a16="http://schemas.microsoft.com/office/drawing/2014/main" val="1436326038"/>
                    </a:ext>
                  </a:extLst>
                </a:gridCol>
                <a:gridCol w="1485075">
                  <a:extLst>
                    <a:ext uri="{9D8B030D-6E8A-4147-A177-3AD203B41FA5}">
                      <a16:colId xmlns:a16="http://schemas.microsoft.com/office/drawing/2014/main" val="3083323837"/>
                    </a:ext>
                  </a:extLst>
                </a:gridCol>
                <a:gridCol w="1485075">
                  <a:extLst>
                    <a:ext uri="{9D8B030D-6E8A-4147-A177-3AD203B41FA5}">
                      <a16:colId xmlns:a16="http://schemas.microsoft.com/office/drawing/2014/main" val="627941869"/>
                    </a:ext>
                  </a:extLst>
                </a:gridCol>
                <a:gridCol w="1485075">
                  <a:extLst>
                    <a:ext uri="{9D8B030D-6E8A-4147-A177-3AD203B41FA5}">
                      <a16:colId xmlns:a16="http://schemas.microsoft.com/office/drawing/2014/main" val="264845788"/>
                    </a:ext>
                  </a:extLst>
                </a:gridCol>
                <a:gridCol w="1485075">
                  <a:extLst>
                    <a:ext uri="{9D8B030D-6E8A-4147-A177-3AD203B41FA5}">
                      <a16:colId xmlns:a16="http://schemas.microsoft.com/office/drawing/2014/main" val="2856251846"/>
                    </a:ext>
                  </a:extLst>
                </a:gridCol>
              </a:tblGrid>
              <a:tr h="75225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+mn-lt"/>
                        </a:rPr>
                        <a:t>Source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+mn-lt"/>
                        </a:rPr>
                        <a:t>Dependent Variable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Significance level</a:t>
                      </a:r>
                      <a:endParaRPr lang="en-US" sz="1400" b="1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+mn-lt"/>
                        </a:rPr>
                        <a:t>Significant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75938471"/>
                  </a:ext>
                </a:extLst>
              </a:tr>
              <a:tr h="477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Status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Annual Growth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23.926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&lt; 0.001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Yes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103329158"/>
                  </a:ext>
                </a:extLst>
              </a:tr>
              <a:tr h="477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Status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Revenue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0.003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0.953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No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848480380"/>
                  </a:ext>
                </a:extLst>
              </a:tr>
              <a:tr h="477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Size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Annual Growth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7.129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0.001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Yes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326117354"/>
                  </a:ext>
                </a:extLst>
              </a:tr>
              <a:tr h="477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Size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Revenue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14.697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&lt; 0.001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Yes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165390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3251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9">
          <a:extLst>
            <a:ext uri="{FF2B5EF4-FFF2-40B4-BE49-F238E27FC236}">
              <a16:creationId xmlns:a16="http://schemas.microsoft.com/office/drawing/2014/main" id="{0990B513-4197-E68A-B312-3568D09C9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55952D5-DEBF-D46A-5774-776692BA8609}"/>
              </a:ext>
            </a:extLst>
          </p:cNvPr>
          <p:cNvSpPr txBox="1">
            <a:spLocks/>
          </p:cNvSpPr>
          <p:nvPr/>
        </p:nvSpPr>
        <p:spPr>
          <a:xfrm>
            <a:off x="467337" y="978858"/>
            <a:ext cx="7930706" cy="3857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r>
              <a:rPr lang="en-US" sz="1800" dirty="0"/>
              <a:t>The model explains 26.1% of the variance in revenue (R² = 0.261) and is</a:t>
            </a:r>
          </a:p>
          <a:p>
            <a:r>
              <a:rPr lang="en-US" sz="1800" dirty="0"/>
              <a:t>statistically significant, F(3, 146) = 17.200, p &lt; 0.001. The Durbin-Watson</a:t>
            </a:r>
          </a:p>
          <a:p>
            <a:r>
              <a:rPr lang="en-US" sz="1800" dirty="0"/>
              <a:t>statistic is 1.892, indicating no autocorrelation in the residuals.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900" b="1" dirty="0"/>
              <a:t>Revenue = 5.503 + 0.004(Employees) + 0.720(Size) + 0.096(Time)</a:t>
            </a:r>
          </a:p>
          <a:p>
            <a:endParaRPr lang="en-US" sz="19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6C00A73-6597-BF9F-D790-A5102312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790" y="310458"/>
            <a:ext cx="7519738" cy="668400"/>
          </a:xfrm>
        </p:spPr>
        <p:txBody>
          <a:bodyPr/>
          <a:lstStyle/>
          <a:p>
            <a:pPr algn="ctr"/>
            <a:r>
              <a:rPr lang="en-US" sz="3600" dirty="0"/>
              <a:t>LINEAR REGRESSION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E08951-E1C3-2F2D-C3D3-99DA370BA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337883"/>
              </p:ext>
            </p:extLst>
          </p:nvPr>
        </p:nvGraphicFramePr>
        <p:xfrm>
          <a:off x="720002" y="1966202"/>
          <a:ext cx="7425378" cy="2384574"/>
        </p:xfrm>
        <a:graphic>
          <a:graphicData uri="http://schemas.openxmlformats.org/drawingml/2006/table">
            <a:tbl>
              <a:tblPr firstRow="1" bandRow="1">
                <a:tableStyleId>{A407EE39-42F6-4224-913A-FE5B60889325}</a:tableStyleId>
              </a:tblPr>
              <a:tblGrid>
                <a:gridCol w="1237563">
                  <a:extLst>
                    <a:ext uri="{9D8B030D-6E8A-4147-A177-3AD203B41FA5}">
                      <a16:colId xmlns:a16="http://schemas.microsoft.com/office/drawing/2014/main" val="1436326038"/>
                    </a:ext>
                  </a:extLst>
                </a:gridCol>
                <a:gridCol w="1237563">
                  <a:extLst>
                    <a:ext uri="{9D8B030D-6E8A-4147-A177-3AD203B41FA5}">
                      <a16:colId xmlns:a16="http://schemas.microsoft.com/office/drawing/2014/main" val="3083323837"/>
                    </a:ext>
                  </a:extLst>
                </a:gridCol>
                <a:gridCol w="1237563">
                  <a:extLst>
                    <a:ext uri="{9D8B030D-6E8A-4147-A177-3AD203B41FA5}">
                      <a16:colId xmlns:a16="http://schemas.microsoft.com/office/drawing/2014/main" val="627941869"/>
                    </a:ext>
                  </a:extLst>
                </a:gridCol>
                <a:gridCol w="849172">
                  <a:extLst>
                    <a:ext uri="{9D8B030D-6E8A-4147-A177-3AD203B41FA5}">
                      <a16:colId xmlns:a16="http://schemas.microsoft.com/office/drawing/2014/main" val="2648457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56251846"/>
                    </a:ext>
                  </a:extLst>
                </a:gridCol>
                <a:gridCol w="1949117">
                  <a:extLst>
                    <a:ext uri="{9D8B030D-6E8A-4147-A177-3AD203B41FA5}">
                      <a16:colId xmlns:a16="http://schemas.microsoft.com/office/drawing/2014/main" val="3563321321"/>
                    </a:ext>
                  </a:extLst>
                </a:gridCol>
              </a:tblGrid>
              <a:tr h="46966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Predictor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B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Std. Error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β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t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Effect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75938471"/>
                  </a:ext>
                </a:extLst>
              </a:tr>
              <a:tr h="39838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(Constant)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5.503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0.417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—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13.209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—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103329158"/>
                  </a:ext>
                </a:extLst>
              </a:tr>
              <a:tr h="62814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Employee Count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0.004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0.001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0.232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2.595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+0.4% per employee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844078738"/>
                  </a:ext>
                </a:extLst>
              </a:tr>
              <a:tr h="39838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Startup Size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0.720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0.216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0.299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3.341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+72% per category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920991591"/>
                  </a:ext>
                </a:extLst>
              </a:tr>
              <a:tr h="39838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Time 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0.096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0.045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0.152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2.118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+9.6% per year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48480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906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9">
          <a:extLst>
            <a:ext uri="{FF2B5EF4-FFF2-40B4-BE49-F238E27FC236}">
              <a16:creationId xmlns:a16="http://schemas.microsoft.com/office/drawing/2014/main" id="{5CF765CE-ADC8-191B-929B-C5884F32B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56A544-C20E-1C73-2EFD-C553FD2AE205}"/>
              </a:ext>
            </a:extLst>
          </p:cNvPr>
          <p:cNvSpPr txBox="1">
            <a:spLocks/>
          </p:cNvSpPr>
          <p:nvPr/>
        </p:nvSpPr>
        <p:spPr>
          <a:xfrm>
            <a:off x="467337" y="839922"/>
            <a:ext cx="7930706" cy="3996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r>
              <a:rPr lang="en-US" sz="1600" dirty="0"/>
              <a:t>The Cox regression model is statistically significant, χ²(3) = 80.926, p &lt; 0.001. </a:t>
            </a:r>
          </a:p>
          <a:p>
            <a:r>
              <a:rPr lang="en-US" sz="1600" dirty="0"/>
              <a:t>The Cox regression equation shows that negative growth increases closure risk by 15.17</a:t>
            </a:r>
          </a:p>
          <a:p>
            <a:r>
              <a:rPr lang="en-US" sz="1600" dirty="0"/>
              <a:t>times (strongest effect), revenue reduces risk by 25% (protective), and funding slightly</a:t>
            </a:r>
          </a:p>
          <a:p>
            <a:r>
              <a:rPr lang="en-US" sz="1600" dirty="0"/>
              <a:t>increases risk (funding paradox).</a:t>
            </a:r>
          </a:p>
          <a:p>
            <a:endParaRPr lang="en-US" sz="19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>
              <a:lnSpc>
                <a:spcPct val="250000"/>
              </a:lnSpc>
            </a:pPr>
            <a:r>
              <a:rPr lang="en-US" sz="1600" b="1" dirty="0"/>
              <a:t>h(t) = h₀(t) × exp[2.719(</a:t>
            </a:r>
            <a:r>
              <a:rPr lang="en-US" sz="1600" b="1" dirty="0" err="1"/>
              <a:t>Negative_Growth</a:t>
            </a:r>
            <a:r>
              <a:rPr lang="en-US" sz="1600" b="1" dirty="0"/>
              <a:t>) - 0.288(Revenue) + 0.003(Total Funding)]</a:t>
            </a:r>
            <a:br>
              <a:rPr lang="en-US" sz="2000" dirty="0"/>
            </a:br>
            <a:endParaRPr lang="en-US" sz="19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85CFF4-C031-5BBF-DA63-8500BB8E8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790" y="310458"/>
            <a:ext cx="7519738" cy="668400"/>
          </a:xfrm>
        </p:spPr>
        <p:txBody>
          <a:bodyPr/>
          <a:lstStyle/>
          <a:p>
            <a:pPr algn="ctr"/>
            <a:r>
              <a:rPr lang="en-US" sz="3600" dirty="0"/>
              <a:t>COX REGRESSION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C07C76-7D35-E355-9B6A-B7AD2D75D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694307"/>
              </p:ext>
            </p:extLst>
          </p:nvPr>
        </p:nvGraphicFramePr>
        <p:xfrm>
          <a:off x="672822" y="1962150"/>
          <a:ext cx="7519736" cy="2377722"/>
        </p:xfrm>
        <a:graphic>
          <a:graphicData uri="http://schemas.openxmlformats.org/drawingml/2006/table">
            <a:tbl>
              <a:tblPr firstRow="1" bandRow="1">
                <a:tableStyleId>{A407EE39-42F6-4224-913A-FE5B60889325}</a:tableStyleId>
              </a:tblPr>
              <a:tblGrid>
                <a:gridCol w="891283">
                  <a:extLst>
                    <a:ext uri="{9D8B030D-6E8A-4147-A177-3AD203B41FA5}">
                      <a16:colId xmlns:a16="http://schemas.microsoft.com/office/drawing/2014/main" val="62335634"/>
                    </a:ext>
                  </a:extLst>
                </a:gridCol>
                <a:gridCol w="709863">
                  <a:extLst>
                    <a:ext uri="{9D8B030D-6E8A-4147-A177-3AD203B41FA5}">
                      <a16:colId xmlns:a16="http://schemas.microsoft.com/office/drawing/2014/main" val="3648364180"/>
                    </a:ext>
                  </a:extLst>
                </a:gridCol>
                <a:gridCol w="842211">
                  <a:extLst>
                    <a:ext uri="{9D8B030D-6E8A-4147-A177-3AD203B41FA5}">
                      <a16:colId xmlns:a16="http://schemas.microsoft.com/office/drawing/2014/main" val="836268093"/>
                    </a:ext>
                  </a:extLst>
                </a:gridCol>
                <a:gridCol w="733926">
                  <a:extLst>
                    <a:ext uri="{9D8B030D-6E8A-4147-A177-3AD203B41FA5}">
                      <a16:colId xmlns:a16="http://schemas.microsoft.com/office/drawing/2014/main" val="2542567019"/>
                    </a:ext>
                  </a:extLst>
                </a:gridCol>
                <a:gridCol w="505327">
                  <a:extLst>
                    <a:ext uri="{9D8B030D-6E8A-4147-A177-3AD203B41FA5}">
                      <a16:colId xmlns:a16="http://schemas.microsoft.com/office/drawing/2014/main" val="2171502393"/>
                    </a:ext>
                  </a:extLst>
                </a:gridCol>
                <a:gridCol w="794084">
                  <a:extLst>
                    <a:ext uri="{9D8B030D-6E8A-4147-A177-3AD203B41FA5}">
                      <a16:colId xmlns:a16="http://schemas.microsoft.com/office/drawing/2014/main" val="3396572094"/>
                    </a:ext>
                  </a:extLst>
                </a:gridCol>
                <a:gridCol w="890337">
                  <a:extLst>
                    <a:ext uri="{9D8B030D-6E8A-4147-A177-3AD203B41FA5}">
                      <a16:colId xmlns:a16="http://schemas.microsoft.com/office/drawing/2014/main" val="655778738"/>
                    </a:ext>
                  </a:extLst>
                </a:gridCol>
                <a:gridCol w="2152705">
                  <a:extLst>
                    <a:ext uri="{9D8B030D-6E8A-4147-A177-3AD203B41FA5}">
                      <a16:colId xmlns:a16="http://schemas.microsoft.com/office/drawing/2014/main" val="466983752"/>
                    </a:ext>
                  </a:extLst>
                </a:gridCol>
              </a:tblGrid>
              <a:tr h="443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Predictor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Wald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df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Sig.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Exp(B)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Interpretation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983222102"/>
                  </a:ext>
                </a:extLst>
              </a:tr>
              <a:tr h="5973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Negative Growth</a:t>
                      </a:r>
                      <a:endParaRPr lang="en-US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2.719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0.393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47.986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 0.001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15.165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15x higher hazard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773785289"/>
                  </a:ext>
                </a:extLst>
              </a:tr>
              <a:tr h="5973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Revenue</a:t>
                      </a:r>
                      <a:endParaRPr lang="en-US" sz="12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-0.288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0.125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5.314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0.021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0.750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25% lower hazard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29736597"/>
                  </a:ext>
                </a:extLst>
              </a:tr>
              <a:tr h="7028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Funding ($1000)</a:t>
                      </a:r>
                      <a:endParaRPr lang="en-US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0.003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0.0001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4.763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0.029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1.000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Small increase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349294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36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p36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3500"/>
            </a:pPr>
            <a:r>
              <a:rPr lang="en-US" dirty="0" err="1"/>
              <a:t>kaplan</a:t>
            </a:r>
            <a:r>
              <a:rPr lang="en-US" dirty="0"/>
              <a:t>-Meier Survival Analysis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D563DD-5662-1DDD-833A-7475054DC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038" y="1407695"/>
            <a:ext cx="3910263" cy="29807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35A7DE-AED1-A6E0-2BF0-329E59D8F243}"/>
              </a:ext>
            </a:extLst>
          </p:cNvPr>
          <p:cNvSpPr txBox="1"/>
          <p:nvPr/>
        </p:nvSpPr>
        <p:spPr>
          <a:xfrm>
            <a:off x="723900" y="1351860"/>
            <a:ext cx="3910263" cy="3481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 b="1" dirty="0"/>
              <a:t>Negative growth startups:</a:t>
            </a:r>
            <a:r>
              <a:rPr lang="en-US" sz="1350" dirty="0"/>
              <a:t> 48 closures </a:t>
            </a:r>
          </a:p>
          <a:p>
            <a:pPr>
              <a:lnSpc>
                <a:spcPct val="150000"/>
              </a:lnSpc>
            </a:pPr>
            <a:r>
              <a:rPr lang="en-US" sz="1350" b="1" dirty="0"/>
              <a:t>Positive growth startups:</a:t>
            </a:r>
            <a:r>
              <a:rPr lang="en-US" sz="1350" dirty="0"/>
              <a:t> 8 closures </a:t>
            </a:r>
          </a:p>
          <a:p>
            <a:pPr>
              <a:lnSpc>
                <a:spcPct val="150000"/>
              </a:lnSpc>
            </a:pPr>
            <a:r>
              <a:rPr lang="en-US" sz="1350" b="1" dirty="0"/>
              <a:t>Median survival (negative growth):</a:t>
            </a:r>
            <a:r>
              <a:rPr lang="en-US" sz="1350" dirty="0"/>
              <a:t> 7.0 years</a:t>
            </a:r>
          </a:p>
          <a:p>
            <a:pPr>
              <a:lnSpc>
                <a:spcPct val="150000"/>
              </a:lnSpc>
            </a:pPr>
            <a:r>
              <a:rPr lang="en-US" sz="1350" b="1" dirty="0"/>
              <a:t>Median survival (positive growth):</a:t>
            </a:r>
            <a:r>
              <a:rPr lang="en-US" sz="1350" dirty="0"/>
              <a:t> Not reached</a:t>
            </a:r>
          </a:p>
          <a:p>
            <a:pPr>
              <a:lnSpc>
                <a:spcPct val="150000"/>
              </a:lnSpc>
            </a:pPr>
            <a:r>
              <a:rPr lang="en-US" sz="1350" b="1" dirty="0"/>
              <a:t>Only 30.6%</a:t>
            </a:r>
            <a:r>
              <a:rPr lang="en-US" sz="1350" dirty="0"/>
              <a:t> survive past 7 years (negative growth)</a:t>
            </a:r>
          </a:p>
          <a:p>
            <a:pPr>
              <a:lnSpc>
                <a:spcPct val="150000"/>
              </a:lnSpc>
            </a:pPr>
            <a:r>
              <a:rPr lang="en-US" sz="1350" b="1" dirty="0"/>
              <a:t>None survive</a:t>
            </a:r>
            <a:r>
              <a:rPr lang="en-US" sz="1350" dirty="0"/>
              <a:t> beyond 13 years (negative growth)</a:t>
            </a:r>
          </a:p>
          <a:p>
            <a:pPr>
              <a:lnSpc>
                <a:spcPct val="150000"/>
              </a:lnSpc>
            </a:pPr>
            <a:r>
              <a:rPr lang="en-US" sz="1350" b="1" dirty="0"/>
              <a:t>Log-rank test:</a:t>
            </a:r>
            <a:r>
              <a:rPr lang="en-US" sz="1350" dirty="0"/>
              <a:t> χ² = 90.162, p &lt; 0.001</a:t>
            </a:r>
          </a:p>
          <a:p>
            <a:pPr>
              <a:lnSpc>
                <a:spcPct val="150000"/>
              </a:lnSpc>
            </a:pPr>
            <a:r>
              <a:rPr lang="en-US" sz="1350" b="1" dirty="0"/>
              <a:t>Highest hazard risk:</a:t>
            </a:r>
            <a:r>
              <a:rPr lang="en-US" sz="1350" dirty="0"/>
              <a:t> Years 5 to 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CE1742-26DE-FB84-A702-0D2CDDDD1548}"/>
              </a:ext>
            </a:extLst>
          </p:cNvPr>
          <p:cNvSpPr txBox="1"/>
          <p:nvPr/>
        </p:nvSpPr>
        <p:spPr>
          <a:xfrm>
            <a:off x="4634163" y="4525742"/>
            <a:ext cx="42416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Kaplan-Meier Survival Curves by Growth Status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9">
          <a:extLst>
            <a:ext uri="{FF2B5EF4-FFF2-40B4-BE49-F238E27FC236}">
              <a16:creationId xmlns:a16="http://schemas.microsoft.com/office/drawing/2014/main" id="{DE09CD0C-71F8-40E7-B349-45C60CB9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63ECABD-BB3D-4DC0-DF18-9F17400FF63E}"/>
              </a:ext>
            </a:extLst>
          </p:cNvPr>
          <p:cNvSpPr txBox="1">
            <a:spLocks/>
          </p:cNvSpPr>
          <p:nvPr/>
        </p:nvSpPr>
        <p:spPr>
          <a:xfrm>
            <a:off x="467337" y="978858"/>
            <a:ext cx="7930706" cy="3857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r>
              <a:rPr lang="en-US" sz="1800" dirty="0"/>
              <a:t>     Cluster 1 contains only </a:t>
            </a:r>
            <a:r>
              <a:rPr lang="en-US" sz="1800" b="1" dirty="0"/>
              <a:t>one startup</a:t>
            </a:r>
            <a:r>
              <a:rPr lang="en-US" sz="1800" dirty="0"/>
              <a:t> (outlier). Statistically insufficient for meaningful segmentation.</a:t>
            </a:r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>
              <a:lnSpc>
                <a:spcPct val="250000"/>
              </a:lnSpc>
            </a:pPr>
            <a:br>
              <a:rPr lang="en-US" sz="2000" dirty="0"/>
            </a:br>
            <a:endParaRPr lang="en-US" sz="19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1AE021-CF3F-76B3-0114-D2401FA3A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04" y="310458"/>
            <a:ext cx="6976423" cy="668400"/>
          </a:xfrm>
        </p:spPr>
        <p:txBody>
          <a:bodyPr/>
          <a:lstStyle/>
          <a:p>
            <a:r>
              <a:rPr lang="en-US" dirty="0"/>
              <a:t>K-Means Cluster Analysis</a:t>
            </a:r>
            <a:endParaRPr lang="en-US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B42CD8-907F-414B-AFD0-AF0691EE7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250021"/>
              </p:ext>
            </p:extLst>
          </p:nvPr>
        </p:nvGraphicFramePr>
        <p:xfrm>
          <a:off x="998621" y="1851193"/>
          <a:ext cx="6629400" cy="2564397"/>
        </p:xfrm>
        <a:graphic>
          <a:graphicData uri="http://schemas.openxmlformats.org/drawingml/2006/table">
            <a:tbl>
              <a:tblPr firstRow="1" bandRow="1">
                <a:tableStyleId>{A407EE39-42F6-4224-913A-FE5B60889325}</a:tableStyleId>
              </a:tblPr>
              <a:tblGrid>
                <a:gridCol w="1657350">
                  <a:extLst>
                    <a:ext uri="{9D8B030D-6E8A-4147-A177-3AD203B41FA5}">
                      <a16:colId xmlns:a16="http://schemas.microsoft.com/office/drawing/2014/main" val="3799948526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1163770055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1132523615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982007995"/>
                    </a:ext>
                  </a:extLst>
                </a:gridCol>
              </a:tblGrid>
              <a:tr h="72503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Variable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Cluster 1 n=1 (Outlier)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Cluster 2 n=136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Cluster 3 n=13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001708545"/>
                  </a:ext>
                </a:extLst>
              </a:tr>
              <a:tr h="459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Revenue 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10.75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-0.14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0.65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403697764"/>
                  </a:ext>
                </a:extLst>
              </a:tr>
              <a:tr h="459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Funding Efficiency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11.24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-0.07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-0.12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609073950"/>
                  </a:ext>
                </a:extLst>
              </a:tr>
              <a:tr h="459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Employee Count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-0.08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-0.25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2.63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533593524"/>
                  </a:ext>
                </a:extLst>
              </a:tr>
              <a:tr h="459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Annual Growth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-0.07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-0.13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1.34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599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171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9">
          <a:extLst>
            <a:ext uri="{FF2B5EF4-FFF2-40B4-BE49-F238E27FC236}">
              <a16:creationId xmlns:a16="http://schemas.microsoft.com/office/drawing/2014/main" id="{0C2D1D92-B873-E2EC-17FF-A917BBA34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DD2D8D9-1A82-AFA4-78C7-333032683275}"/>
              </a:ext>
            </a:extLst>
          </p:cNvPr>
          <p:cNvSpPr txBox="1">
            <a:spLocks/>
          </p:cNvSpPr>
          <p:nvPr/>
        </p:nvSpPr>
        <p:spPr>
          <a:xfrm>
            <a:off x="467337" y="978858"/>
            <a:ext cx="7930706" cy="3857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r>
              <a:rPr lang="en-US" sz="1800" b="1" dirty="0"/>
              <a:t>High Growth cluster (8.7% of startups)</a:t>
            </a:r>
            <a:r>
              <a:rPr lang="en-US" sz="1800" dirty="0"/>
              <a:t> has 75% annual growth, 293 employees,</a:t>
            </a:r>
          </a:p>
          <a:p>
            <a:r>
              <a:rPr lang="en-US" sz="1800" dirty="0"/>
              <a:t>and 69.2% survival rate.</a:t>
            </a:r>
          </a:p>
          <a:p>
            <a:r>
              <a:rPr lang="en-US" sz="1800" b="1" dirty="0"/>
              <a:t>Mainstream cluster (91.3% of startups)</a:t>
            </a:r>
            <a:r>
              <a:rPr lang="en-US" sz="1800" dirty="0"/>
              <a:t> has 9% annual growth, 30 employees,</a:t>
            </a:r>
          </a:p>
          <a:p>
            <a:r>
              <a:rPr lang="en-US" sz="1800" dirty="0"/>
              <a:t>and 61.8% survival rate.</a:t>
            </a:r>
          </a:p>
          <a:p>
            <a:br>
              <a:rPr lang="en-US" sz="2000" dirty="0"/>
            </a:br>
            <a:endParaRPr lang="en-US" sz="19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B88518B-36A2-ACCB-45EE-838922C52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759" y="235849"/>
            <a:ext cx="7363325" cy="668400"/>
          </a:xfrm>
        </p:spPr>
        <p:txBody>
          <a:bodyPr/>
          <a:lstStyle/>
          <a:p>
            <a:r>
              <a:rPr lang="en-US" sz="2200" dirty="0"/>
              <a:t>K-Means Cluster Analysis (Refined Sample)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2FACA2-F308-E999-1287-28AB3C96F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239835"/>
              </p:ext>
            </p:extLst>
          </p:nvPr>
        </p:nvGraphicFramePr>
        <p:xfrm>
          <a:off x="745955" y="2240141"/>
          <a:ext cx="7387392" cy="2333310"/>
        </p:xfrm>
        <a:graphic>
          <a:graphicData uri="http://schemas.openxmlformats.org/drawingml/2006/table">
            <a:tbl>
              <a:tblPr firstRow="1" bandRow="1">
                <a:tableStyleId>{A407EE39-42F6-4224-913A-FE5B60889325}</a:tableStyleId>
              </a:tblPr>
              <a:tblGrid>
                <a:gridCol w="2462464">
                  <a:extLst>
                    <a:ext uri="{9D8B030D-6E8A-4147-A177-3AD203B41FA5}">
                      <a16:colId xmlns:a16="http://schemas.microsoft.com/office/drawing/2014/main" val="3799948526"/>
                    </a:ext>
                  </a:extLst>
                </a:gridCol>
                <a:gridCol w="2462464">
                  <a:extLst>
                    <a:ext uri="{9D8B030D-6E8A-4147-A177-3AD203B41FA5}">
                      <a16:colId xmlns:a16="http://schemas.microsoft.com/office/drawing/2014/main" val="1163770055"/>
                    </a:ext>
                  </a:extLst>
                </a:gridCol>
                <a:gridCol w="2462464">
                  <a:extLst>
                    <a:ext uri="{9D8B030D-6E8A-4147-A177-3AD203B41FA5}">
                      <a16:colId xmlns:a16="http://schemas.microsoft.com/office/drawing/2014/main" val="1132523615"/>
                    </a:ext>
                  </a:extLst>
                </a:gridCol>
              </a:tblGrid>
              <a:tr h="57189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Variable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Cluster 1 n=13</a:t>
                      </a:r>
                    </a:p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(High Growth)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Cluster 2 n=136 (Mainstream)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001708545"/>
                  </a:ext>
                </a:extLst>
              </a:tr>
              <a:tr h="3627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Revenue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0.65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-0.14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403697764"/>
                  </a:ext>
                </a:extLst>
              </a:tr>
              <a:tr h="3627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Annual Growth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1.34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-0.13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609073950"/>
                  </a:ext>
                </a:extLst>
              </a:tr>
              <a:tr h="3627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Employee Count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2.63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-0.25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533593524"/>
                  </a:ext>
                </a:extLst>
              </a:tr>
              <a:tr h="3627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Funding Efficiency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-0.12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-0.07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0599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809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4">
          <a:extLst>
            <a:ext uri="{FF2B5EF4-FFF2-40B4-BE49-F238E27FC236}">
              <a16:creationId xmlns:a16="http://schemas.microsoft.com/office/drawing/2014/main" id="{0279526A-D2C4-4F9A-FD69-0E016E8BC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DBC042-2129-FBC3-0CA4-60BA0F22E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03" y="372979"/>
            <a:ext cx="7286876" cy="35372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64C3C6-EFB4-D214-5879-581BDC52A420}"/>
              </a:ext>
            </a:extLst>
          </p:cNvPr>
          <p:cNvSpPr txBox="1"/>
          <p:nvPr/>
        </p:nvSpPr>
        <p:spPr>
          <a:xfrm>
            <a:off x="784182" y="4031857"/>
            <a:ext cx="75756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High-growth startups </a:t>
            </a:r>
            <a:r>
              <a:rPr lang="en-US" dirty="0"/>
              <a:t>(red) are on the right side with higher annual growth.</a:t>
            </a:r>
          </a:p>
          <a:p>
            <a:r>
              <a:rPr lang="en-US" b="1" dirty="0"/>
              <a:t>Mainstream startups </a:t>
            </a:r>
            <a:r>
              <a:rPr lang="en-US" dirty="0"/>
              <a:t>(green) are on the left with lower growth, reflecting the real challenges startups face.</a:t>
            </a:r>
          </a:p>
        </p:txBody>
      </p:sp>
    </p:spTree>
    <p:extLst>
      <p:ext uri="{BB962C8B-B14F-4D97-AF65-F5344CB8AC3E}">
        <p14:creationId xmlns:p14="http://schemas.microsoft.com/office/powerpoint/2010/main" val="744365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79B0DE-4F7D-C177-BD2A-8A4E0F1A5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399" y="254335"/>
            <a:ext cx="5725863" cy="539749"/>
          </a:xfrm>
        </p:spPr>
        <p:txBody>
          <a:bodyPr/>
          <a:lstStyle/>
          <a:p>
            <a:r>
              <a:rPr lang="en-US" sz="2800" dirty="0"/>
              <a:t>Summary of Key Findings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A6D53FC-D07A-869F-4218-EA79D1332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493299"/>
              </p:ext>
            </p:extLst>
          </p:nvPr>
        </p:nvGraphicFramePr>
        <p:xfrm>
          <a:off x="685800" y="962526"/>
          <a:ext cx="7194884" cy="3986955"/>
        </p:xfrm>
        <a:graphic>
          <a:graphicData uri="http://schemas.openxmlformats.org/drawingml/2006/table">
            <a:tbl>
              <a:tblPr firstRow="1" bandRow="1">
                <a:tableStyleId>{A407EE39-42F6-4224-913A-FE5B60889325}</a:tableStyleId>
              </a:tblPr>
              <a:tblGrid>
                <a:gridCol w="4993105">
                  <a:extLst>
                    <a:ext uri="{9D8B030D-6E8A-4147-A177-3AD203B41FA5}">
                      <a16:colId xmlns:a16="http://schemas.microsoft.com/office/drawing/2014/main" val="1723434200"/>
                    </a:ext>
                  </a:extLst>
                </a:gridCol>
                <a:gridCol w="2201779">
                  <a:extLst>
                    <a:ext uri="{9D8B030D-6E8A-4147-A177-3AD203B41FA5}">
                      <a16:colId xmlns:a16="http://schemas.microsoft.com/office/drawing/2014/main" val="4263211763"/>
                    </a:ext>
                  </a:extLst>
                </a:gridCol>
              </a:tblGrid>
              <a:tr h="4207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Finding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Method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026952137"/>
                  </a:ext>
                </a:extLst>
              </a:tr>
              <a:tr h="3616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Negative growth = 15x higher closure hazard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Cox Regression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826814658"/>
                  </a:ext>
                </a:extLst>
              </a:tr>
              <a:tr h="4118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1% revenue increase = 25% lower closure hazard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Cox Regression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136462437"/>
                  </a:ext>
                </a:extLst>
              </a:tr>
              <a:tr h="4118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Higher funding = small increase in closure risk (Funding Paradox)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Cox Regression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63864578"/>
                  </a:ext>
                </a:extLst>
              </a:tr>
              <a:tr h="3616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Each size category = 72% higher revenue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Linear Regression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934241376"/>
                  </a:ext>
                </a:extLst>
              </a:tr>
              <a:tr h="3616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Each employee = 0.4% higher revenue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Linear Regression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88162502"/>
                  </a:ext>
                </a:extLst>
              </a:tr>
              <a:tr h="3616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Status affects growth, not revenue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MANOVA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115828161"/>
                  </a:ext>
                </a:extLst>
              </a:tr>
              <a:tr h="4118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Active vs Closed growth gap: d = 1.22 and 1.50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T-Test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7147243"/>
                  </a:ext>
                </a:extLst>
              </a:tr>
              <a:tr h="4118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High-growth startups: 8.7% of sample, 69.2% survival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Cluster Analysis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118506261"/>
                  </a:ext>
                </a:extLst>
              </a:tr>
              <a:tr h="4118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Negative growth: only 30.6% survive past 7 years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Kaplan-Meier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41372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4646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1AB77-C4E4-CC04-A742-02AAA466F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21EE494-9B4B-CA7D-49AD-7DC505AD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6989" y="446005"/>
            <a:ext cx="6977148" cy="539749"/>
          </a:xfrm>
        </p:spPr>
        <p:txBody>
          <a:bodyPr/>
          <a:lstStyle/>
          <a:p>
            <a:r>
              <a:rPr lang="en-US" sz="3200" dirty="0"/>
              <a:t>Research Questions Answered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D778F6-C2BB-C515-5F4E-45CAC1416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323450"/>
              </p:ext>
            </p:extLst>
          </p:nvPr>
        </p:nvGraphicFramePr>
        <p:xfrm>
          <a:off x="950495" y="1094874"/>
          <a:ext cx="7303168" cy="3476938"/>
        </p:xfrm>
        <a:graphic>
          <a:graphicData uri="http://schemas.openxmlformats.org/drawingml/2006/table">
            <a:tbl>
              <a:tblPr firstRow="1" bandRow="1">
                <a:tableStyleId>{A407EE39-42F6-4224-913A-FE5B60889325}</a:tableStyleId>
              </a:tblPr>
              <a:tblGrid>
                <a:gridCol w="3651584">
                  <a:extLst>
                    <a:ext uri="{9D8B030D-6E8A-4147-A177-3AD203B41FA5}">
                      <a16:colId xmlns:a16="http://schemas.microsoft.com/office/drawing/2014/main" val="1884284844"/>
                    </a:ext>
                  </a:extLst>
                </a:gridCol>
                <a:gridCol w="3651584">
                  <a:extLst>
                    <a:ext uri="{9D8B030D-6E8A-4147-A177-3AD203B41FA5}">
                      <a16:colId xmlns:a16="http://schemas.microsoft.com/office/drawing/2014/main" val="2581367656"/>
                    </a:ext>
                  </a:extLst>
                </a:gridCol>
              </a:tblGrid>
              <a:tr h="43339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Question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Answer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511036977"/>
                  </a:ext>
                </a:extLst>
              </a:tr>
              <a:tr h="86050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What are main characteristics of Pakistani startups?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Wide variation in revenue, funding, growth; most have 5 employees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644419903"/>
                  </a:ext>
                </a:extLst>
              </a:tr>
              <a:tr h="54575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What predicts survival?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Growth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 (15x higher hazard if negative)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54101252"/>
                  </a:ext>
                </a:extLst>
              </a:tr>
              <a:tr h="54575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What predicts revenue?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Size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 (72% increase per category)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367142386"/>
                  </a:ext>
                </a:extLst>
              </a:tr>
              <a:tr h="54575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Can models predict outcomes?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Yes (Cox: χ²=80.9, Linear: R²=0.261)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612300311"/>
                  </a:ext>
                </a:extLst>
              </a:tr>
              <a:tr h="54575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Are multidimensional methods effective?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Yes (Cluster, MANOVA)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495734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0699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4AD9A-A574-37DE-460B-1BC0C17C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49"/>
            <a:ext cx="7696200" cy="4224087"/>
          </a:xfrm>
        </p:spPr>
        <p:txBody>
          <a:bodyPr/>
          <a:lstStyle/>
          <a:p>
            <a:pPr algn="ctr"/>
            <a:r>
              <a:rPr lang="en-US" sz="60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951042352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Workplan by Slidesgo">
  <a:themeElements>
    <a:clrScheme name="Simple Light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4361</TotalTime>
  <Words>1464</Words>
  <Application>Microsoft Office PowerPoint</Application>
  <PresentationFormat>On-screen Show (16:9)</PresentationFormat>
  <Paragraphs>452</Paragraphs>
  <Slides>25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Arimo</vt:lpstr>
      <vt:lpstr>Calibri</vt:lpstr>
      <vt:lpstr>Inter</vt:lpstr>
      <vt:lpstr>Poppins</vt:lpstr>
      <vt:lpstr>Poppins ExtraBold</vt:lpstr>
      <vt:lpstr>quote-cjk-patch</vt:lpstr>
      <vt:lpstr>Raleway</vt:lpstr>
      <vt:lpstr>Raleway ExtraBold</vt:lpstr>
      <vt:lpstr>Elegant Workplan by Slidesgo</vt:lpstr>
      <vt:lpstr>Predicting Start-up Outcomes in Pakistan: An Integrated Econometric and Multidimensional Statistical Approach</vt:lpstr>
      <vt:lpstr>01</vt:lpstr>
      <vt:lpstr>Objectives</vt:lpstr>
      <vt:lpstr>PowerPoint Presentation</vt:lpstr>
      <vt:lpstr>PowerPoint Presentation</vt:lpstr>
      <vt:lpstr>Literature Review</vt:lpstr>
      <vt:lpstr>PowerPoint Presentation</vt:lpstr>
      <vt:lpstr>Descriptive Statistics of Continuous Variables</vt:lpstr>
      <vt:lpstr>Distribution of Annual Growth Rates</vt:lpstr>
      <vt:lpstr>Average Annual Growth by Startup size </vt:lpstr>
      <vt:lpstr>Distribution Fitting using EasyFit  H0: The data follow the specified theoretical distribution.  H1: The data do not follow the specified theoretical distribution.</vt:lpstr>
      <vt:lpstr>ANOVA by Startup Size</vt:lpstr>
      <vt:lpstr>ANOVA by Industry</vt:lpstr>
      <vt:lpstr>INDEPENDENT T-Test</vt:lpstr>
      <vt:lpstr>MANOVA: Multivariate Results</vt:lpstr>
      <vt:lpstr>MANOVA: Between-Subjects Effects</vt:lpstr>
      <vt:lpstr>LINEAR REGRESSION</vt:lpstr>
      <vt:lpstr>COX REGRESSION</vt:lpstr>
      <vt:lpstr>kaplan-Meier Survival Analysis </vt:lpstr>
      <vt:lpstr>K-Means Cluster Analysis</vt:lpstr>
      <vt:lpstr>K-Means Cluster Analysis (Refined Sample)</vt:lpstr>
      <vt:lpstr>PowerPoint Presentation</vt:lpstr>
      <vt:lpstr>Summary of Key Findings</vt:lpstr>
      <vt:lpstr>Research Questions Answered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PMYLS</dc:creator>
  <cp:lastModifiedBy>Zoha Ehsan 3001-BS-STAT-22</cp:lastModifiedBy>
  <cp:revision>11</cp:revision>
  <dcterms:modified xsi:type="dcterms:W3CDTF">2026-05-22T11:49:07Z</dcterms:modified>
</cp:coreProperties>
</file>